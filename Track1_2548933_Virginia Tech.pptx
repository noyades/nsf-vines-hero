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01_BCF51EB3.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2" r:id="rId5"/>
  </p:sldMasterIdLst>
  <p:notesMasterIdLst>
    <p:notesMasterId r:id="rId7"/>
  </p:notesMasterIdLst>
  <p:sldIdLst>
    <p:sldId id="25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F336F8C-D921-4731-B5D7-2406EBA569F6}">
          <p14:sldIdLst>
            <p14:sldId id="25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CA84E21-B58A-20EB-48C3-459F82B1CA9A}" name="Jayaweera Kankanamge, Sudharman" initials="SJ" userId="S::7665451682@nsf.gov::871ce041-cfe4-4198-9405-9d3c5a0d449f" providerId="AD"/>
  <p188:author id="{7D97ACF9-CC6A-A2F1-D97F-4C0B8CC8881E}" name="Paige Walker" initials="PW" userId="S::pwalker@corneralliance.com::d0df19a6-65f0-4c4c-8c1f-a277573072f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699"/>
    <a:srgbClr val="CCD3DC"/>
    <a:srgbClr val="DCC276"/>
    <a:srgbClr val="F6F0DC"/>
    <a:srgbClr val="CCF3E5"/>
    <a:srgbClr val="DBF3F8"/>
    <a:srgbClr val="CCE3E8"/>
    <a:srgbClr val="99C7D1"/>
    <a:srgbClr val="CCDDEA"/>
    <a:srgbClr val="4477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96" y="1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omments/modernComment_101_BCF51EB3.xml><?xml version="1.0" encoding="utf-8"?>
<p188:cmLst xmlns:a="http://schemas.openxmlformats.org/drawingml/2006/main" xmlns:r="http://schemas.openxmlformats.org/officeDocument/2006/relationships" xmlns:p188="http://schemas.microsoft.com/office/powerpoint/2018/8/main">
  <p188:cm id="{56356BB4-9A5C-495F-B573-A4F8F288D677}" authorId="{9CA84E21-B58A-20EB-48C3-459F82B1CA9A}" status="resolved" created="2026-09-19T04:26:10.558" complete="100000">
    <ac:txMkLst xmlns:ac="http://schemas.microsoft.com/office/drawing/2013/main/command">
      <pc:docMk xmlns:pc="http://schemas.microsoft.com/office/powerpoint/2013/main/command"/>
      <pc:sldMk xmlns:pc="http://schemas.microsoft.com/office/powerpoint/2013/main/command" cId="3170180787" sldId="257"/>
      <ac:spMk id="24" creationId="{CB97CE3E-2007-C770-0976-099BF05F33A1}"/>
      <ac:txMk cp="0">
        <ac:context len="69" hash="1381588426"/>
      </ac:txMk>
    </ac:txMkLst>
    <p188:pos x="1590605" y="339754"/>
    <p188:txBody>
      <a:bodyPr/>
      <a:lstStyle/>
      <a:p>
        <a:r>
          <a:rPr lang="en-US"/>
          <a:t>Lead, collaborative, sub-awardee, vendor Organizations and/or their Logos Here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D090E6-69B6-48F0-A49F-189D4A3A2A00}" type="datetimeFigureOut">
              <a:rPr lang="en-US" smtClean="0"/>
              <a:t>10/16/2026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EA4CC5-C107-406B-A913-C606892F7538}" type="slidenum">
              <a:rPr lang="en-US" smtClean="0"/>
              <a:t>‹#›</a:t>
            </a:fld>
            <a:endParaRPr lang="en-US"/>
          </a:p>
        </p:txBody>
      </p:sp>
    </p:spTree>
    <p:extLst>
      <p:ext uri="{BB962C8B-B14F-4D97-AF65-F5344CB8AC3E}">
        <p14:creationId xmlns:p14="http://schemas.microsoft.com/office/powerpoint/2010/main" val="1158652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4E9D00-D18A-1124-27B1-4E855764A98C}"/>
              </a:ext>
            </a:extLst>
          </p:cNvPr>
          <p:cNvSpPr/>
          <p:nvPr userDrawn="1"/>
        </p:nvSpPr>
        <p:spPr>
          <a:xfrm>
            <a:off x="295565" y="2437036"/>
            <a:ext cx="8007926" cy="3409582"/>
          </a:xfrm>
          <a:prstGeom prst="rect">
            <a:avLst/>
          </a:prstGeom>
          <a:solidFill>
            <a:srgbClr val="DBF3F8"/>
          </a:solidFill>
          <a:ln w="28575">
            <a:no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CBB75C9-4C70-BD85-AB00-8608CDCD8137}"/>
              </a:ext>
            </a:extLst>
          </p:cNvPr>
          <p:cNvSpPr/>
          <p:nvPr userDrawn="1"/>
        </p:nvSpPr>
        <p:spPr>
          <a:xfrm>
            <a:off x="295564" y="1177633"/>
            <a:ext cx="11600872" cy="997530"/>
          </a:xfrm>
          <a:prstGeom prst="rect">
            <a:avLst/>
          </a:prstGeom>
          <a:solidFill>
            <a:srgbClr val="002554"/>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8BBAA927-5004-C80A-1057-69C34FA7E134}"/>
              </a:ext>
            </a:extLst>
          </p:cNvPr>
          <p:cNvGrpSpPr/>
          <p:nvPr userDrawn="1"/>
        </p:nvGrpSpPr>
        <p:grpSpPr>
          <a:xfrm>
            <a:off x="8497455" y="2429164"/>
            <a:ext cx="3398982" cy="3417454"/>
            <a:chOff x="8626761" y="2327960"/>
            <a:chExt cx="3269675" cy="3611822"/>
          </a:xfrm>
          <a:effectLst/>
        </p:grpSpPr>
        <p:sp>
          <p:nvSpPr>
            <p:cNvPr id="5" name="Rectangle 4">
              <a:extLst>
                <a:ext uri="{FF2B5EF4-FFF2-40B4-BE49-F238E27FC236}">
                  <a16:creationId xmlns:a16="http://schemas.microsoft.com/office/drawing/2014/main" id="{3A9CBC28-442B-54D8-F8B2-53CE0DC3497C}"/>
                </a:ext>
              </a:extLst>
            </p:cNvPr>
            <p:cNvSpPr/>
            <p:nvPr userDrawn="1"/>
          </p:nvSpPr>
          <p:spPr>
            <a:xfrm>
              <a:off x="8626763" y="2327960"/>
              <a:ext cx="3269673" cy="461421"/>
            </a:xfrm>
            <a:prstGeom prst="rect">
              <a:avLst/>
            </a:prstGeom>
            <a:solidFill>
              <a:srgbClr val="D3B34E"/>
            </a:solidFill>
            <a:ln w="28575">
              <a:no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Pentagon 5">
              <a:extLst>
                <a:ext uri="{FF2B5EF4-FFF2-40B4-BE49-F238E27FC236}">
                  <a16:creationId xmlns:a16="http://schemas.microsoft.com/office/drawing/2014/main" id="{CB433D1B-0E3D-0520-1E73-3DCB9DD8B78E}"/>
                </a:ext>
              </a:extLst>
            </p:cNvPr>
            <p:cNvSpPr/>
            <p:nvPr userDrawn="1"/>
          </p:nvSpPr>
          <p:spPr>
            <a:xfrm rot="5400000">
              <a:off x="8686396" y="2729746"/>
              <a:ext cx="3150401" cy="3269671"/>
            </a:xfrm>
            <a:prstGeom prst="homePlate">
              <a:avLst>
                <a:gd name="adj" fmla="val 22316"/>
              </a:avLst>
            </a:prstGeom>
            <a:solidFill>
              <a:schemeClr val="bg1">
                <a:lumMod val="95000"/>
              </a:schemeClr>
            </a:solidFill>
            <a:ln w="28575">
              <a:no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B34F969C-2BE0-F009-E87C-14393DE14570}"/>
              </a:ext>
            </a:extLst>
          </p:cNvPr>
          <p:cNvGrpSpPr/>
          <p:nvPr userDrawn="1"/>
        </p:nvGrpSpPr>
        <p:grpSpPr>
          <a:xfrm>
            <a:off x="452582" y="2594733"/>
            <a:ext cx="2466109" cy="3086316"/>
            <a:chOff x="295564" y="2349571"/>
            <a:chExt cx="2466109" cy="2458061"/>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1DE0D3D5-AB7C-7692-7263-319AB717CD3F}"/>
                </a:ext>
              </a:extLst>
            </p:cNvPr>
            <p:cNvSpPr/>
            <p:nvPr userDrawn="1"/>
          </p:nvSpPr>
          <p:spPr>
            <a:xfrm>
              <a:off x="295564" y="2349571"/>
              <a:ext cx="120072" cy="2458061"/>
            </a:xfrm>
            <a:prstGeom prst="rect">
              <a:avLst/>
            </a:prstGeom>
            <a:solidFill>
              <a:srgbClr val="00758D"/>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13FCDA0-35DE-4CEA-00C0-E08AB4EE264F}"/>
                </a:ext>
              </a:extLst>
            </p:cNvPr>
            <p:cNvSpPr/>
            <p:nvPr userDrawn="1"/>
          </p:nvSpPr>
          <p:spPr>
            <a:xfrm>
              <a:off x="415636" y="2349571"/>
              <a:ext cx="2346037" cy="2458061"/>
            </a:xfrm>
            <a:prstGeom prst="rect">
              <a:avLst/>
            </a:prstGeom>
            <a:solidFill>
              <a:schemeClr val="bg1"/>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4915947-A295-DFD7-1484-2E1A5E95245F}"/>
              </a:ext>
            </a:extLst>
          </p:cNvPr>
          <p:cNvGrpSpPr/>
          <p:nvPr userDrawn="1"/>
        </p:nvGrpSpPr>
        <p:grpSpPr>
          <a:xfrm>
            <a:off x="3057235" y="2594734"/>
            <a:ext cx="2466109" cy="3086315"/>
            <a:chOff x="295564" y="2349571"/>
            <a:chExt cx="2466109" cy="2458061"/>
          </a:xfrm>
          <a:effectLst>
            <a:outerShdw blurRad="50800" dist="38100" dir="2700000" algn="tl" rotWithShape="0">
              <a:prstClr val="black">
                <a:alpha val="40000"/>
              </a:prstClr>
            </a:outerShdw>
          </a:effectLst>
        </p:grpSpPr>
        <p:sp>
          <p:nvSpPr>
            <p:cNvPr id="11" name="Rectangle 10">
              <a:extLst>
                <a:ext uri="{FF2B5EF4-FFF2-40B4-BE49-F238E27FC236}">
                  <a16:creationId xmlns:a16="http://schemas.microsoft.com/office/drawing/2014/main" id="{77498E09-682D-9BBF-E5E1-4261DA3C1691}"/>
                </a:ext>
              </a:extLst>
            </p:cNvPr>
            <p:cNvSpPr/>
            <p:nvPr userDrawn="1"/>
          </p:nvSpPr>
          <p:spPr>
            <a:xfrm>
              <a:off x="295564" y="2349571"/>
              <a:ext cx="120072" cy="2458061"/>
            </a:xfrm>
            <a:prstGeom prst="rect">
              <a:avLst/>
            </a:prstGeom>
            <a:solidFill>
              <a:srgbClr val="473B70"/>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6C628C"/>
                </a:solidFill>
              </a:endParaRPr>
            </a:p>
          </p:txBody>
        </p:sp>
        <p:sp>
          <p:nvSpPr>
            <p:cNvPr id="12" name="Rectangle 11">
              <a:extLst>
                <a:ext uri="{FF2B5EF4-FFF2-40B4-BE49-F238E27FC236}">
                  <a16:creationId xmlns:a16="http://schemas.microsoft.com/office/drawing/2014/main" id="{40C02073-1FDE-334B-99E4-909325EC5595}"/>
                </a:ext>
              </a:extLst>
            </p:cNvPr>
            <p:cNvSpPr/>
            <p:nvPr userDrawn="1"/>
          </p:nvSpPr>
          <p:spPr>
            <a:xfrm>
              <a:off x="415636" y="2349571"/>
              <a:ext cx="2346037" cy="2458061"/>
            </a:xfrm>
            <a:prstGeom prst="rect">
              <a:avLst/>
            </a:prstGeom>
            <a:solidFill>
              <a:schemeClr val="bg1"/>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90024C70-5311-4B29-8951-C18A58395225}"/>
              </a:ext>
            </a:extLst>
          </p:cNvPr>
          <p:cNvSpPr txBox="1"/>
          <p:nvPr userDrawn="1"/>
        </p:nvSpPr>
        <p:spPr>
          <a:xfrm>
            <a:off x="628072" y="2665698"/>
            <a:ext cx="2235199" cy="400110"/>
          </a:xfrm>
          <a:prstGeom prst="rect">
            <a:avLst/>
          </a:prstGeom>
          <a:noFill/>
        </p:spPr>
        <p:txBody>
          <a:bodyPr wrap="square" rtlCol="0">
            <a:spAutoFit/>
          </a:bodyPr>
          <a:lstStyle/>
          <a:p>
            <a:r>
              <a:rPr lang="en-US" sz="2000" b="1">
                <a:solidFill>
                  <a:srgbClr val="00758D"/>
                </a:solidFill>
                <a:latin typeface="Open Sans Light" panose="020B0306030504020204" pitchFamily="34" charset="0"/>
                <a:ea typeface="Open Sans Light" panose="020B0306030504020204" pitchFamily="34" charset="0"/>
                <a:cs typeface="Open Sans Light" panose="020B0306030504020204" pitchFamily="34" charset="0"/>
              </a:rPr>
              <a:t>Vector A</a:t>
            </a:r>
          </a:p>
        </p:txBody>
      </p:sp>
      <p:sp>
        <p:nvSpPr>
          <p:cNvPr id="14" name="TextBox 13">
            <a:extLst>
              <a:ext uri="{FF2B5EF4-FFF2-40B4-BE49-F238E27FC236}">
                <a16:creationId xmlns:a16="http://schemas.microsoft.com/office/drawing/2014/main" id="{5AE5E669-E0FE-5FCF-5F34-C9486493CCC3}"/>
              </a:ext>
            </a:extLst>
          </p:cNvPr>
          <p:cNvSpPr txBox="1"/>
          <p:nvPr userDrawn="1"/>
        </p:nvSpPr>
        <p:spPr>
          <a:xfrm>
            <a:off x="3232725" y="2665698"/>
            <a:ext cx="2235199" cy="400110"/>
          </a:xfrm>
          <a:prstGeom prst="rect">
            <a:avLst/>
          </a:prstGeom>
          <a:noFill/>
        </p:spPr>
        <p:txBody>
          <a:bodyPr wrap="square" rtlCol="0">
            <a:spAutoFit/>
          </a:bodyPr>
          <a:lstStyle/>
          <a:p>
            <a:r>
              <a:rPr lang="en-US" sz="2000" b="1">
                <a:solidFill>
                  <a:srgbClr val="473B70"/>
                </a:solidFill>
                <a:latin typeface="Open Sans Light" panose="020B0306030504020204" pitchFamily="34" charset="0"/>
                <a:ea typeface="Open Sans Light" panose="020B0306030504020204" pitchFamily="34" charset="0"/>
                <a:cs typeface="Open Sans Light" panose="020B0306030504020204" pitchFamily="34" charset="0"/>
              </a:rPr>
              <a:t>Vector B</a:t>
            </a:r>
          </a:p>
        </p:txBody>
      </p:sp>
      <p:sp>
        <p:nvSpPr>
          <p:cNvPr id="15" name="TextBox 14">
            <a:extLst>
              <a:ext uri="{FF2B5EF4-FFF2-40B4-BE49-F238E27FC236}">
                <a16:creationId xmlns:a16="http://schemas.microsoft.com/office/drawing/2014/main" id="{A9DAC022-5858-816B-7F17-BC7323959EE0}"/>
              </a:ext>
            </a:extLst>
          </p:cNvPr>
          <p:cNvSpPr txBox="1"/>
          <p:nvPr userDrawn="1"/>
        </p:nvSpPr>
        <p:spPr>
          <a:xfrm>
            <a:off x="5717307" y="2665698"/>
            <a:ext cx="2456875" cy="707886"/>
          </a:xfrm>
          <a:prstGeom prst="rect">
            <a:avLst/>
          </a:prstGeom>
          <a:noFill/>
        </p:spPr>
        <p:txBody>
          <a:bodyPr wrap="square" rtlCol="0">
            <a:spAutoFit/>
          </a:bodyPr>
          <a:lstStyle/>
          <a:p>
            <a:r>
              <a:rPr lang="en-US" sz="20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Points of Convergence</a:t>
            </a:r>
          </a:p>
        </p:txBody>
      </p:sp>
      <p:sp>
        <p:nvSpPr>
          <p:cNvPr id="16" name="TextBox 15">
            <a:extLst>
              <a:ext uri="{FF2B5EF4-FFF2-40B4-BE49-F238E27FC236}">
                <a16:creationId xmlns:a16="http://schemas.microsoft.com/office/drawing/2014/main" id="{D543313A-65E2-78B8-E73A-92385329BFBA}"/>
              </a:ext>
            </a:extLst>
          </p:cNvPr>
          <p:cNvSpPr txBox="1"/>
          <p:nvPr userDrawn="1"/>
        </p:nvSpPr>
        <p:spPr>
          <a:xfrm>
            <a:off x="8712195" y="2478182"/>
            <a:ext cx="3098801" cy="338554"/>
          </a:xfrm>
          <a:prstGeom prst="rect">
            <a:avLst/>
          </a:prstGeom>
          <a:noFill/>
        </p:spPr>
        <p:txBody>
          <a:bodyPr wrap="square" rtlCol="0">
            <a:spAutoFit/>
          </a:bodyPr>
          <a:lstStyle/>
          <a:p>
            <a:pPr algn="ctr"/>
            <a:r>
              <a:rPr lang="en-US" sz="1600" b="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Your Project’s Contribution</a:t>
            </a:r>
          </a:p>
        </p:txBody>
      </p:sp>
    </p:spTree>
    <p:extLst>
      <p:ext uri="{BB962C8B-B14F-4D97-AF65-F5344CB8AC3E}">
        <p14:creationId xmlns:p14="http://schemas.microsoft.com/office/powerpoint/2010/main" val="1576574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63E0E8F-2553-B377-3DCF-1323BAE5444A}"/>
              </a:ext>
            </a:extLst>
          </p:cNvPr>
          <p:cNvSpPr/>
          <p:nvPr userDrawn="1"/>
        </p:nvSpPr>
        <p:spPr>
          <a:xfrm>
            <a:off x="282321" y="2506799"/>
            <a:ext cx="45720" cy="1116233"/>
          </a:xfrm>
          <a:prstGeom prst="rect">
            <a:avLst/>
          </a:prstGeom>
          <a:solidFill>
            <a:srgbClr val="002554"/>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B49939-9C55-0BFE-8C7E-25C3C532AB86}"/>
              </a:ext>
            </a:extLst>
          </p:cNvPr>
          <p:cNvSpPr/>
          <p:nvPr userDrawn="1"/>
        </p:nvSpPr>
        <p:spPr>
          <a:xfrm>
            <a:off x="328041" y="2506799"/>
            <a:ext cx="4570571" cy="1116233"/>
          </a:xfrm>
          <a:prstGeom prst="rect">
            <a:avLst/>
          </a:prstGeom>
          <a:solidFill>
            <a:srgbClr val="CCD3DC"/>
          </a:solidFill>
          <a:ln w="28575">
            <a:no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E60EB54-CA8E-62D8-6AE0-47320532A372}"/>
              </a:ext>
            </a:extLst>
          </p:cNvPr>
          <p:cNvSpPr txBox="1"/>
          <p:nvPr userDrawn="1"/>
        </p:nvSpPr>
        <p:spPr>
          <a:xfrm>
            <a:off x="373761" y="2544970"/>
            <a:ext cx="1188179" cy="307777"/>
          </a:xfrm>
          <a:prstGeom prst="rect">
            <a:avLst/>
          </a:prstGeom>
          <a:noFill/>
        </p:spPr>
        <p:txBody>
          <a:bodyPr wrap="square" rtlCol="0">
            <a:spAutoFit/>
          </a:bodyPr>
          <a:lstStyle/>
          <a:p>
            <a:r>
              <a:rPr lang="en-US" sz="14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Vector A</a:t>
            </a:r>
          </a:p>
        </p:txBody>
      </p:sp>
      <p:grpSp>
        <p:nvGrpSpPr>
          <p:cNvPr id="27" name="Group 26">
            <a:extLst>
              <a:ext uri="{FF2B5EF4-FFF2-40B4-BE49-F238E27FC236}">
                <a16:creationId xmlns:a16="http://schemas.microsoft.com/office/drawing/2014/main" id="{98292206-BA74-0D87-FADC-CDCCB6D396EF}"/>
              </a:ext>
            </a:extLst>
          </p:cNvPr>
          <p:cNvGrpSpPr/>
          <p:nvPr userDrawn="1"/>
        </p:nvGrpSpPr>
        <p:grpSpPr>
          <a:xfrm>
            <a:off x="282321" y="1251939"/>
            <a:ext cx="1201422" cy="956423"/>
            <a:chOff x="282321" y="1165675"/>
            <a:chExt cx="1201422" cy="956423"/>
          </a:xfrm>
        </p:grpSpPr>
        <p:sp>
          <p:nvSpPr>
            <p:cNvPr id="24" name="TextBox 23">
              <a:extLst>
                <a:ext uri="{FF2B5EF4-FFF2-40B4-BE49-F238E27FC236}">
                  <a16:creationId xmlns:a16="http://schemas.microsoft.com/office/drawing/2014/main" id="{1DFA29F1-4D3C-EAAC-2096-61AAFCD76FC1}"/>
                </a:ext>
              </a:extLst>
            </p:cNvPr>
            <p:cNvSpPr txBox="1"/>
            <p:nvPr userDrawn="1"/>
          </p:nvSpPr>
          <p:spPr>
            <a:xfrm>
              <a:off x="282321" y="1289943"/>
              <a:ext cx="1188178" cy="707886"/>
            </a:xfrm>
            <a:prstGeom prst="rect">
              <a:avLst/>
            </a:prstGeom>
            <a:noFill/>
          </p:spPr>
          <p:txBody>
            <a:bodyPr wrap="square" rtlCol="0">
              <a:spAutoFit/>
            </a:bodyPr>
            <a:lstStyle/>
            <a:p>
              <a:r>
                <a:rPr lang="en-US" sz="20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Problem to Solve</a:t>
              </a:r>
            </a:p>
          </p:txBody>
        </p:sp>
        <p:sp>
          <p:nvSpPr>
            <p:cNvPr id="26" name="Rectangle 25">
              <a:extLst>
                <a:ext uri="{FF2B5EF4-FFF2-40B4-BE49-F238E27FC236}">
                  <a16:creationId xmlns:a16="http://schemas.microsoft.com/office/drawing/2014/main" id="{CBF2DF27-8BF6-1EF6-4498-17BBA54BAA82}"/>
                </a:ext>
              </a:extLst>
            </p:cNvPr>
            <p:cNvSpPr/>
            <p:nvPr userDrawn="1"/>
          </p:nvSpPr>
          <p:spPr>
            <a:xfrm flipH="1">
              <a:off x="1438024" y="1165675"/>
              <a:ext cx="45719" cy="956423"/>
            </a:xfrm>
            <a:prstGeom prst="rect">
              <a:avLst/>
            </a:prstGeom>
            <a:solidFill>
              <a:schemeClr val="tx1"/>
            </a:solidFill>
            <a:ln w="28575">
              <a:no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6C628C"/>
                </a:solidFill>
              </a:endParaRPr>
            </a:p>
          </p:txBody>
        </p:sp>
      </p:grpSp>
      <p:grpSp>
        <p:nvGrpSpPr>
          <p:cNvPr id="28" name="Group 27">
            <a:extLst>
              <a:ext uri="{FF2B5EF4-FFF2-40B4-BE49-F238E27FC236}">
                <a16:creationId xmlns:a16="http://schemas.microsoft.com/office/drawing/2014/main" id="{936AF5C1-F755-2841-390A-687BA6929A74}"/>
              </a:ext>
            </a:extLst>
          </p:cNvPr>
          <p:cNvGrpSpPr/>
          <p:nvPr userDrawn="1"/>
        </p:nvGrpSpPr>
        <p:grpSpPr>
          <a:xfrm>
            <a:off x="282321" y="3623032"/>
            <a:ext cx="4616291" cy="1116233"/>
            <a:chOff x="295564" y="2349571"/>
            <a:chExt cx="4616291" cy="2458061"/>
          </a:xfrm>
          <a:effectLst>
            <a:outerShdw blurRad="50800" dist="38100" dir="2700000" algn="tl" rotWithShape="0">
              <a:prstClr val="black">
                <a:alpha val="40000"/>
              </a:prstClr>
            </a:outerShdw>
          </a:effectLst>
        </p:grpSpPr>
        <p:sp>
          <p:nvSpPr>
            <p:cNvPr id="29" name="Rectangle 28">
              <a:extLst>
                <a:ext uri="{FF2B5EF4-FFF2-40B4-BE49-F238E27FC236}">
                  <a16:creationId xmlns:a16="http://schemas.microsoft.com/office/drawing/2014/main" id="{EEC0048C-9CF7-18B6-7D95-EFDFBA2A7EF2}"/>
                </a:ext>
              </a:extLst>
            </p:cNvPr>
            <p:cNvSpPr/>
            <p:nvPr userDrawn="1"/>
          </p:nvSpPr>
          <p:spPr>
            <a:xfrm>
              <a:off x="295564" y="2349571"/>
              <a:ext cx="45720" cy="2458061"/>
            </a:xfrm>
            <a:prstGeom prst="rect">
              <a:avLst/>
            </a:prstGeom>
            <a:solidFill>
              <a:srgbClr val="005699"/>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7429E5E-9490-FECB-6035-2230835207FE}"/>
                </a:ext>
              </a:extLst>
            </p:cNvPr>
            <p:cNvSpPr/>
            <p:nvPr userDrawn="1"/>
          </p:nvSpPr>
          <p:spPr>
            <a:xfrm>
              <a:off x="341284" y="2349571"/>
              <a:ext cx="4570571" cy="2458061"/>
            </a:xfrm>
            <a:prstGeom prst="rect">
              <a:avLst/>
            </a:prstGeom>
            <a:solidFill>
              <a:srgbClr val="CCDDEA"/>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8E5DA4D3-DE25-F276-E808-E43650F8DE27}"/>
              </a:ext>
            </a:extLst>
          </p:cNvPr>
          <p:cNvSpPr txBox="1"/>
          <p:nvPr userDrawn="1"/>
        </p:nvSpPr>
        <p:spPr>
          <a:xfrm>
            <a:off x="373761" y="3694767"/>
            <a:ext cx="1188179" cy="307777"/>
          </a:xfrm>
          <a:prstGeom prst="rect">
            <a:avLst/>
          </a:prstGeom>
          <a:noFill/>
        </p:spPr>
        <p:txBody>
          <a:bodyPr wrap="square" rtlCol="0">
            <a:spAutoFit/>
          </a:bodyPr>
          <a:lstStyle/>
          <a:p>
            <a:r>
              <a:rPr lang="en-US" sz="1400" b="1">
                <a:solidFill>
                  <a:sysClr val="windowText" lastClr="000000"/>
                </a:solidFill>
                <a:latin typeface="Open Sans Light" panose="020B0306030504020204" pitchFamily="34" charset="0"/>
                <a:ea typeface="Open Sans Light" panose="020B0306030504020204" pitchFamily="34" charset="0"/>
                <a:cs typeface="Open Sans Light" panose="020B0306030504020204" pitchFamily="34" charset="0"/>
              </a:rPr>
              <a:t>Vector B</a:t>
            </a:r>
          </a:p>
        </p:txBody>
      </p:sp>
      <p:grpSp>
        <p:nvGrpSpPr>
          <p:cNvPr id="34" name="Group 33">
            <a:extLst>
              <a:ext uri="{FF2B5EF4-FFF2-40B4-BE49-F238E27FC236}">
                <a16:creationId xmlns:a16="http://schemas.microsoft.com/office/drawing/2014/main" id="{B36EA25B-7BA8-4BA2-C0C2-6922076B81D2}"/>
              </a:ext>
            </a:extLst>
          </p:cNvPr>
          <p:cNvGrpSpPr/>
          <p:nvPr userDrawn="1"/>
        </p:nvGrpSpPr>
        <p:grpSpPr>
          <a:xfrm>
            <a:off x="286941" y="4739265"/>
            <a:ext cx="4611671" cy="1116233"/>
            <a:chOff x="295564" y="2349571"/>
            <a:chExt cx="4611671" cy="2458061"/>
          </a:xfrm>
          <a:effectLst>
            <a:outerShdw blurRad="50800" dist="38100" dir="2700000" algn="tl" rotWithShape="0">
              <a:prstClr val="black">
                <a:alpha val="40000"/>
              </a:prstClr>
            </a:outerShdw>
          </a:effectLst>
        </p:grpSpPr>
        <p:sp>
          <p:nvSpPr>
            <p:cNvPr id="35" name="Rectangle 34">
              <a:extLst>
                <a:ext uri="{FF2B5EF4-FFF2-40B4-BE49-F238E27FC236}">
                  <a16:creationId xmlns:a16="http://schemas.microsoft.com/office/drawing/2014/main" id="{38A0E4C0-CE83-6F6A-17DB-0426BC729D9E}"/>
                </a:ext>
              </a:extLst>
            </p:cNvPr>
            <p:cNvSpPr/>
            <p:nvPr userDrawn="1"/>
          </p:nvSpPr>
          <p:spPr>
            <a:xfrm>
              <a:off x="295564" y="2349571"/>
              <a:ext cx="45720" cy="2458061"/>
            </a:xfrm>
            <a:prstGeom prst="rect">
              <a:avLst/>
            </a:prstGeom>
            <a:solidFill>
              <a:srgbClr val="4EC3E0"/>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65B73309-E719-FF0B-D7B6-38CA2FC3C324}"/>
                </a:ext>
              </a:extLst>
            </p:cNvPr>
            <p:cNvSpPr/>
            <p:nvPr userDrawn="1"/>
          </p:nvSpPr>
          <p:spPr>
            <a:xfrm>
              <a:off x="336664" y="2349571"/>
              <a:ext cx="4570571" cy="2458061"/>
            </a:xfrm>
            <a:prstGeom prst="rect">
              <a:avLst/>
            </a:prstGeom>
            <a:solidFill>
              <a:srgbClr val="DBF3F8"/>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67F7F026-CDFC-86D1-8773-7195E6212B23}"/>
              </a:ext>
            </a:extLst>
          </p:cNvPr>
          <p:cNvSpPr txBox="1"/>
          <p:nvPr userDrawn="1"/>
        </p:nvSpPr>
        <p:spPr>
          <a:xfrm>
            <a:off x="373761" y="4811000"/>
            <a:ext cx="1288385" cy="307777"/>
          </a:xfrm>
          <a:prstGeom prst="rect">
            <a:avLst/>
          </a:prstGeom>
          <a:noFill/>
        </p:spPr>
        <p:txBody>
          <a:bodyPr wrap="square" rtlCol="0">
            <a:spAutoFit/>
          </a:bodyPr>
          <a:lstStyle/>
          <a:p>
            <a:r>
              <a:rPr lang="en-US" sz="1400" b="1">
                <a:solidFill>
                  <a:sysClr val="windowText" lastClr="000000"/>
                </a:solidFill>
                <a:latin typeface="Open Sans Light" panose="020B0306030504020204" pitchFamily="34" charset="0"/>
                <a:ea typeface="Open Sans Light" panose="020B0306030504020204" pitchFamily="34" charset="0"/>
                <a:cs typeface="Open Sans Light" panose="020B0306030504020204" pitchFamily="34" charset="0"/>
              </a:rPr>
              <a:t>Convergence</a:t>
            </a:r>
          </a:p>
        </p:txBody>
      </p:sp>
      <p:sp>
        <p:nvSpPr>
          <p:cNvPr id="40" name="Rectangle 39">
            <a:extLst>
              <a:ext uri="{FF2B5EF4-FFF2-40B4-BE49-F238E27FC236}">
                <a16:creationId xmlns:a16="http://schemas.microsoft.com/office/drawing/2014/main" id="{1936EAED-2721-78D1-26FB-F12FCDB2F29E}"/>
              </a:ext>
            </a:extLst>
          </p:cNvPr>
          <p:cNvSpPr/>
          <p:nvPr userDrawn="1"/>
        </p:nvSpPr>
        <p:spPr>
          <a:xfrm>
            <a:off x="5014064" y="3981094"/>
            <a:ext cx="4587136" cy="1874404"/>
          </a:xfrm>
          <a:prstGeom prst="rect">
            <a:avLst/>
          </a:prstGeom>
          <a:solidFill>
            <a:srgbClr val="F6F0DC"/>
          </a:solidFill>
          <a:ln w="28575">
            <a:no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D36AED1-11DE-CE80-D789-92DAC65DEBC3}"/>
              </a:ext>
            </a:extLst>
          </p:cNvPr>
          <p:cNvSpPr/>
          <p:nvPr userDrawn="1"/>
        </p:nvSpPr>
        <p:spPr>
          <a:xfrm>
            <a:off x="5014065" y="2506800"/>
            <a:ext cx="45720" cy="1371599"/>
          </a:xfrm>
          <a:prstGeom prst="rect">
            <a:avLst/>
          </a:prstGeom>
          <a:solidFill>
            <a:srgbClr val="DCC276"/>
          </a:solidFill>
          <a:ln w="28575">
            <a:no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D006B45A-63A7-58A3-3F84-5CFD43D5C5AE}"/>
              </a:ext>
            </a:extLst>
          </p:cNvPr>
          <p:cNvSpPr>
            <a:spLocks noGrp="1"/>
          </p:cNvSpPr>
          <p:nvPr userDrawn="1">
            <p:ph type="pic" sz="quarter" idx="10"/>
          </p:nvPr>
        </p:nvSpPr>
        <p:spPr>
          <a:xfrm>
            <a:off x="8242141" y="1135199"/>
            <a:ext cx="3657600" cy="2743200"/>
          </a:xfrm>
          <a:prstGeom prst="rect">
            <a:avLst/>
          </a:prstGeom>
        </p:spPr>
        <p:txBody>
          <a:bodyPr/>
          <a:lstStyle/>
          <a:p>
            <a:endParaRPr lang="en-US"/>
          </a:p>
        </p:txBody>
      </p:sp>
    </p:spTree>
    <p:extLst>
      <p:ext uri="{BB962C8B-B14F-4D97-AF65-F5344CB8AC3E}">
        <p14:creationId xmlns:p14="http://schemas.microsoft.com/office/powerpoint/2010/main" val="3021599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7" name="Arrow: Pentagon 16">
            <a:extLst>
              <a:ext uri="{FF2B5EF4-FFF2-40B4-BE49-F238E27FC236}">
                <a16:creationId xmlns:a16="http://schemas.microsoft.com/office/drawing/2014/main" id="{0C56F780-7B5F-0A12-D05F-75734E481EB3}"/>
              </a:ext>
            </a:extLst>
          </p:cNvPr>
          <p:cNvSpPr/>
          <p:nvPr userDrawn="1"/>
        </p:nvSpPr>
        <p:spPr>
          <a:xfrm>
            <a:off x="3333750" y="1115091"/>
            <a:ext cx="8682845" cy="3474162"/>
          </a:xfrm>
          <a:prstGeom prst="homePlate">
            <a:avLst>
              <a:gd name="adj" fmla="val 11270"/>
            </a:avLst>
          </a:prstGeom>
          <a:solidFill>
            <a:srgbClr val="DBF3F8"/>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4B9884C-60EF-9C68-9728-B8F08F433EEE}"/>
              </a:ext>
            </a:extLst>
          </p:cNvPr>
          <p:cNvGrpSpPr/>
          <p:nvPr userDrawn="1"/>
        </p:nvGrpSpPr>
        <p:grpSpPr>
          <a:xfrm>
            <a:off x="3443001" y="1217455"/>
            <a:ext cx="5838464" cy="1160617"/>
            <a:chOff x="295564" y="2349571"/>
            <a:chExt cx="4863860" cy="2458061"/>
          </a:xfrm>
          <a:effectLst>
            <a:outerShdw blurRad="50800" dist="38100" dir="2700000" algn="tl" rotWithShape="0">
              <a:prstClr val="black">
                <a:alpha val="40000"/>
              </a:prstClr>
            </a:outerShdw>
          </a:effectLst>
        </p:grpSpPr>
        <p:sp>
          <p:nvSpPr>
            <p:cNvPr id="19" name="Rectangle 18">
              <a:extLst>
                <a:ext uri="{FF2B5EF4-FFF2-40B4-BE49-F238E27FC236}">
                  <a16:creationId xmlns:a16="http://schemas.microsoft.com/office/drawing/2014/main" id="{14217470-87F3-1CA5-0875-8D06E8CFE7B4}"/>
                </a:ext>
              </a:extLst>
            </p:cNvPr>
            <p:cNvSpPr/>
            <p:nvPr userDrawn="1"/>
          </p:nvSpPr>
          <p:spPr>
            <a:xfrm>
              <a:off x="295564" y="2349571"/>
              <a:ext cx="38088" cy="2458061"/>
            </a:xfrm>
            <a:prstGeom prst="rect">
              <a:avLst/>
            </a:prstGeom>
            <a:solidFill>
              <a:srgbClr val="00758D"/>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6960909-CDCB-852D-91A4-2418B63652B7}"/>
                </a:ext>
              </a:extLst>
            </p:cNvPr>
            <p:cNvSpPr/>
            <p:nvPr userDrawn="1"/>
          </p:nvSpPr>
          <p:spPr>
            <a:xfrm>
              <a:off x="342798" y="2349571"/>
              <a:ext cx="4816626" cy="2458061"/>
            </a:xfrm>
            <a:prstGeom prst="rect">
              <a:avLst/>
            </a:prstGeom>
            <a:solidFill>
              <a:schemeClr val="bg1"/>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extBox 20">
            <a:extLst>
              <a:ext uri="{FF2B5EF4-FFF2-40B4-BE49-F238E27FC236}">
                <a16:creationId xmlns:a16="http://schemas.microsoft.com/office/drawing/2014/main" id="{8C0FA9F1-0171-605D-C61D-458ADF399727}"/>
              </a:ext>
            </a:extLst>
          </p:cNvPr>
          <p:cNvSpPr txBox="1"/>
          <p:nvPr userDrawn="1"/>
        </p:nvSpPr>
        <p:spPr>
          <a:xfrm>
            <a:off x="3561794" y="1272653"/>
            <a:ext cx="3734355" cy="338554"/>
          </a:xfrm>
          <a:prstGeom prst="rect">
            <a:avLst/>
          </a:prstGeom>
          <a:noFill/>
        </p:spPr>
        <p:txBody>
          <a:bodyPr wrap="square" rtlCol="0">
            <a:spAutoFit/>
          </a:bodyPr>
          <a:lstStyle/>
          <a:p>
            <a:r>
              <a:rPr lang="en-US" sz="1600" b="1">
                <a:solidFill>
                  <a:srgbClr val="00758D"/>
                </a:solidFill>
                <a:latin typeface="Open Sans Light" panose="020B0306030504020204" pitchFamily="34" charset="0"/>
                <a:ea typeface="Open Sans Light" panose="020B0306030504020204" pitchFamily="34" charset="0"/>
                <a:cs typeface="Open Sans Light" panose="020B0306030504020204" pitchFamily="34" charset="0"/>
              </a:rPr>
              <a:t>Vertical Problem</a:t>
            </a:r>
          </a:p>
        </p:txBody>
      </p:sp>
      <p:grpSp>
        <p:nvGrpSpPr>
          <p:cNvPr id="23" name="Group 22">
            <a:extLst>
              <a:ext uri="{FF2B5EF4-FFF2-40B4-BE49-F238E27FC236}">
                <a16:creationId xmlns:a16="http://schemas.microsoft.com/office/drawing/2014/main" id="{477DAAF2-46D6-3C93-6CE9-AC09C3F83E2A}"/>
              </a:ext>
            </a:extLst>
          </p:cNvPr>
          <p:cNvGrpSpPr/>
          <p:nvPr userDrawn="1"/>
        </p:nvGrpSpPr>
        <p:grpSpPr>
          <a:xfrm>
            <a:off x="3443001" y="2474628"/>
            <a:ext cx="5838464" cy="2016917"/>
            <a:chOff x="295564" y="2349571"/>
            <a:chExt cx="4637015" cy="2458061"/>
          </a:xfrm>
          <a:effectLst>
            <a:outerShdw blurRad="50800" dist="38100" dir="2700000" algn="tl" rotWithShape="0">
              <a:prstClr val="black">
                <a:alpha val="40000"/>
              </a:prstClr>
            </a:outerShdw>
          </a:effectLst>
        </p:grpSpPr>
        <p:sp>
          <p:nvSpPr>
            <p:cNvPr id="24" name="Rectangle 23">
              <a:extLst>
                <a:ext uri="{FF2B5EF4-FFF2-40B4-BE49-F238E27FC236}">
                  <a16:creationId xmlns:a16="http://schemas.microsoft.com/office/drawing/2014/main" id="{5B96F9F8-7D2A-1388-E1DF-0DA5D101B27D}"/>
                </a:ext>
              </a:extLst>
            </p:cNvPr>
            <p:cNvSpPr/>
            <p:nvPr userDrawn="1"/>
          </p:nvSpPr>
          <p:spPr>
            <a:xfrm>
              <a:off x="295564" y="2349571"/>
              <a:ext cx="38088" cy="2458061"/>
            </a:xfrm>
            <a:prstGeom prst="rect">
              <a:avLst/>
            </a:prstGeom>
            <a:solidFill>
              <a:srgbClr val="473B70"/>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6C628C"/>
                </a:solidFill>
              </a:endParaRPr>
            </a:p>
          </p:txBody>
        </p:sp>
        <p:sp>
          <p:nvSpPr>
            <p:cNvPr id="25" name="Rectangle 24">
              <a:extLst>
                <a:ext uri="{FF2B5EF4-FFF2-40B4-BE49-F238E27FC236}">
                  <a16:creationId xmlns:a16="http://schemas.microsoft.com/office/drawing/2014/main" id="{28E1D389-A72B-5DC4-A7BF-F739675113CE}"/>
                </a:ext>
              </a:extLst>
            </p:cNvPr>
            <p:cNvSpPr/>
            <p:nvPr userDrawn="1"/>
          </p:nvSpPr>
          <p:spPr>
            <a:xfrm>
              <a:off x="333652" y="2349571"/>
              <a:ext cx="4598927" cy="2458061"/>
            </a:xfrm>
            <a:prstGeom prst="rect">
              <a:avLst/>
            </a:prstGeom>
            <a:solidFill>
              <a:schemeClr val="bg1"/>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a:extLst>
              <a:ext uri="{FF2B5EF4-FFF2-40B4-BE49-F238E27FC236}">
                <a16:creationId xmlns:a16="http://schemas.microsoft.com/office/drawing/2014/main" id="{12977469-DDCC-1C67-72EF-167217D873BE}"/>
              </a:ext>
            </a:extLst>
          </p:cNvPr>
          <p:cNvSpPr txBox="1"/>
          <p:nvPr userDrawn="1"/>
        </p:nvSpPr>
        <p:spPr>
          <a:xfrm>
            <a:off x="3582982" y="2529826"/>
            <a:ext cx="5133917" cy="338554"/>
          </a:xfrm>
          <a:prstGeom prst="rect">
            <a:avLst/>
          </a:prstGeom>
          <a:noFill/>
        </p:spPr>
        <p:txBody>
          <a:bodyPr wrap="square" rtlCol="0">
            <a:spAutoFit/>
          </a:bodyPr>
          <a:lstStyle/>
          <a:p>
            <a:r>
              <a:rPr lang="en-US" sz="1600" b="1">
                <a:solidFill>
                  <a:srgbClr val="473B70"/>
                </a:solidFill>
                <a:latin typeface="Open Sans Light" panose="020B0306030504020204" pitchFamily="34" charset="0"/>
                <a:ea typeface="Open Sans Light" panose="020B0306030504020204" pitchFamily="34" charset="0"/>
                <a:cs typeface="Open Sans Light" panose="020B0306030504020204" pitchFamily="34" charset="0"/>
              </a:rPr>
              <a:t>Primary Networking Technology &amp; Proposed Solution</a:t>
            </a:r>
          </a:p>
        </p:txBody>
      </p:sp>
      <p:sp>
        <p:nvSpPr>
          <p:cNvPr id="28" name="TextBox 27">
            <a:extLst>
              <a:ext uri="{FF2B5EF4-FFF2-40B4-BE49-F238E27FC236}">
                <a16:creationId xmlns:a16="http://schemas.microsoft.com/office/drawing/2014/main" id="{3046F162-A6A7-4524-8BFA-D47D0E0D19FB}"/>
              </a:ext>
            </a:extLst>
          </p:cNvPr>
          <p:cNvSpPr txBox="1"/>
          <p:nvPr userDrawn="1"/>
        </p:nvSpPr>
        <p:spPr>
          <a:xfrm>
            <a:off x="3379470" y="4685809"/>
            <a:ext cx="4127564" cy="338554"/>
          </a:xfrm>
          <a:prstGeom prst="rect">
            <a:avLst/>
          </a:prstGeom>
          <a:noFill/>
        </p:spPr>
        <p:txBody>
          <a:bodyPr wrap="square" rtlCol="0">
            <a:spAutoFit/>
          </a:bodyPr>
          <a:lstStyle/>
          <a:p>
            <a:r>
              <a:rPr lang="en-US" sz="1600" b="1">
                <a:solidFill>
                  <a:srgbClr val="D3B34E"/>
                </a:solidFill>
                <a:latin typeface="Open Sans Light" panose="020B0306030504020204" pitchFamily="34" charset="0"/>
                <a:ea typeface="Open Sans Light" panose="020B0306030504020204" pitchFamily="34" charset="0"/>
                <a:cs typeface="Open Sans Light" panose="020B0306030504020204" pitchFamily="34" charset="0"/>
              </a:rPr>
              <a:t>At Scale Technology Demonstrations</a:t>
            </a:r>
          </a:p>
        </p:txBody>
      </p:sp>
      <p:sp>
        <p:nvSpPr>
          <p:cNvPr id="29" name="Rectangle 28">
            <a:extLst>
              <a:ext uri="{FF2B5EF4-FFF2-40B4-BE49-F238E27FC236}">
                <a16:creationId xmlns:a16="http://schemas.microsoft.com/office/drawing/2014/main" id="{357CE100-AA6C-B0E9-D749-D7DB551E456E}"/>
              </a:ext>
            </a:extLst>
          </p:cNvPr>
          <p:cNvSpPr/>
          <p:nvPr userDrawn="1"/>
        </p:nvSpPr>
        <p:spPr>
          <a:xfrm>
            <a:off x="3333750" y="4685809"/>
            <a:ext cx="45720" cy="1315111"/>
          </a:xfrm>
          <a:prstGeom prst="rect">
            <a:avLst/>
          </a:prstGeom>
          <a:solidFill>
            <a:srgbClr val="D3B34E"/>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04795CB0-4FE8-13EB-9019-A0A3284FE78E}"/>
              </a:ext>
            </a:extLst>
          </p:cNvPr>
          <p:cNvSpPr txBox="1"/>
          <p:nvPr userDrawn="1"/>
        </p:nvSpPr>
        <p:spPr>
          <a:xfrm>
            <a:off x="9495371" y="1257414"/>
            <a:ext cx="2295849" cy="584775"/>
          </a:xfrm>
          <a:prstGeom prst="rect">
            <a:avLst/>
          </a:prstGeom>
          <a:noFill/>
        </p:spPr>
        <p:txBody>
          <a:bodyPr wrap="square" rtlCol="0">
            <a:spAutoFit/>
          </a:bodyPr>
          <a:lstStyle/>
          <a:p>
            <a:r>
              <a:rPr lang="en-US" sz="16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Post VINES Translational Plans</a:t>
            </a:r>
          </a:p>
        </p:txBody>
      </p:sp>
      <p:sp>
        <p:nvSpPr>
          <p:cNvPr id="31" name="Rectangle 30">
            <a:extLst>
              <a:ext uri="{FF2B5EF4-FFF2-40B4-BE49-F238E27FC236}">
                <a16:creationId xmlns:a16="http://schemas.microsoft.com/office/drawing/2014/main" id="{63347E27-027B-3C4C-76E0-6C0F7BF9F236}"/>
              </a:ext>
            </a:extLst>
          </p:cNvPr>
          <p:cNvSpPr/>
          <p:nvPr userDrawn="1"/>
        </p:nvSpPr>
        <p:spPr>
          <a:xfrm>
            <a:off x="9391048" y="1217993"/>
            <a:ext cx="45720" cy="3273552"/>
          </a:xfrm>
          <a:prstGeom prst="rect">
            <a:avLst/>
          </a:prstGeom>
          <a:solidFill>
            <a:schemeClr val="tx1"/>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4">
            <a:extLst>
              <a:ext uri="{FF2B5EF4-FFF2-40B4-BE49-F238E27FC236}">
                <a16:creationId xmlns:a16="http://schemas.microsoft.com/office/drawing/2014/main" id="{82AE36E1-6C69-48CF-E6E1-E670F8AD8800}"/>
              </a:ext>
            </a:extLst>
          </p:cNvPr>
          <p:cNvSpPr>
            <a:spLocks noGrp="1"/>
          </p:cNvSpPr>
          <p:nvPr>
            <p:ph type="pic" sz="quarter" idx="10"/>
          </p:nvPr>
        </p:nvSpPr>
        <p:spPr>
          <a:xfrm>
            <a:off x="140285" y="1117994"/>
            <a:ext cx="3060115" cy="2295086"/>
          </a:xfrm>
          <a:prstGeom prst="rect">
            <a:avLst/>
          </a:prstGeom>
        </p:spPr>
        <p:txBody>
          <a:bodyPr/>
          <a:lstStyle/>
          <a:p>
            <a:endParaRPr lang="en-US"/>
          </a:p>
        </p:txBody>
      </p:sp>
    </p:spTree>
    <p:extLst>
      <p:ext uri="{BB962C8B-B14F-4D97-AF65-F5344CB8AC3E}">
        <p14:creationId xmlns:p14="http://schemas.microsoft.com/office/powerpoint/2010/main" val="3939419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0AF59E-F2C1-9168-8BCE-07AD0DFDFD08}"/>
              </a:ext>
            </a:extLst>
          </p:cNvPr>
          <p:cNvSpPr/>
          <p:nvPr userDrawn="1"/>
        </p:nvSpPr>
        <p:spPr>
          <a:xfrm>
            <a:off x="295565" y="2437036"/>
            <a:ext cx="8007926" cy="3409582"/>
          </a:xfrm>
          <a:prstGeom prst="rect">
            <a:avLst/>
          </a:prstGeom>
          <a:solidFill>
            <a:srgbClr val="DBF3F8"/>
          </a:solidFill>
          <a:ln w="28575">
            <a:no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371A5D96-6109-E669-850A-85E83BDC472F}"/>
              </a:ext>
            </a:extLst>
          </p:cNvPr>
          <p:cNvGrpSpPr/>
          <p:nvPr userDrawn="1"/>
        </p:nvGrpSpPr>
        <p:grpSpPr>
          <a:xfrm>
            <a:off x="8497455" y="2429164"/>
            <a:ext cx="3398982" cy="3417454"/>
            <a:chOff x="8626761" y="2327960"/>
            <a:chExt cx="3269675" cy="3611822"/>
          </a:xfrm>
          <a:effectLst/>
        </p:grpSpPr>
        <p:sp>
          <p:nvSpPr>
            <p:cNvPr id="10" name="Rectangle 9">
              <a:extLst>
                <a:ext uri="{FF2B5EF4-FFF2-40B4-BE49-F238E27FC236}">
                  <a16:creationId xmlns:a16="http://schemas.microsoft.com/office/drawing/2014/main" id="{B22CCDF1-DCB2-79C6-5661-352074064556}"/>
                </a:ext>
              </a:extLst>
            </p:cNvPr>
            <p:cNvSpPr/>
            <p:nvPr userDrawn="1"/>
          </p:nvSpPr>
          <p:spPr>
            <a:xfrm>
              <a:off x="8626763" y="2327960"/>
              <a:ext cx="3269673" cy="461421"/>
            </a:xfrm>
            <a:prstGeom prst="rect">
              <a:avLst/>
            </a:prstGeom>
            <a:solidFill>
              <a:srgbClr val="D3B34E"/>
            </a:solidFill>
            <a:ln w="28575">
              <a:no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Pentagon 10">
              <a:extLst>
                <a:ext uri="{FF2B5EF4-FFF2-40B4-BE49-F238E27FC236}">
                  <a16:creationId xmlns:a16="http://schemas.microsoft.com/office/drawing/2014/main" id="{B0EC9277-C46A-ADA0-FDC1-ED464693DBF1}"/>
                </a:ext>
              </a:extLst>
            </p:cNvPr>
            <p:cNvSpPr/>
            <p:nvPr userDrawn="1"/>
          </p:nvSpPr>
          <p:spPr>
            <a:xfrm rot="5400000">
              <a:off x="8686396" y="2729746"/>
              <a:ext cx="3150401" cy="3269671"/>
            </a:xfrm>
            <a:prstGeom prst="homePlate">
              <a:avLst>
                <a:gd name="adj" fmla="val 22316"/>
              </a:avLst>
            </a:prstGeom>
            <a:solidFill>
              <a:schemeClr val="bg1">
                <a:lumMod val="95000"/>
              </a:schemeClr>
            </a:solidFill>
            <a:ln w="28575">
              <a:no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70D5255D-77B8-7609-AF71-B992F07C8A6D}"/>
              </a:ext>
            </a:extLst>
          </p:cNvPr>
          <p:cNvGrpSpPr/>
          <p:nvPr userDrawn="1"/>
        </p:nvGrpSpPr>
        <p:grpSpPr>
          <a:xfrm>
            <a:off x="452582" y="2594733"/>
            <a:ext cx="2466109" cy="3086316"/>
            <a:chOff x="295564" y="2349571"/>
            <a:chExt cx="2466109" cy="2458061"/>
          </a:xfrm>
          <a:effectLst>
            <a:outerShdw blurRad="50800" dist="38100" dir="2700000" algn="tl" rotWithShape="0">
              <a:prstClr val="black">
                <a:alpha val="40000"/>
              </a:prstClr>
            </a:outerShdw>
          </a:effectLst>
        </p:grpSpPr>
        <p:sp>
          <p:nvSpPr>
            <p:cNvPr id="13" name="Rectangle 12">
              <a:extLst>
                <a:ext uri="{FF2B5EF4-FFF2-40B4-BE49-F238E27FC236}">
                  <a16:creationId xmlns:a16="http://schemas.microsoft.com/office/drawing/2014/main" id="{EA944C68-B92F-D371-7CCE-AE9178AF38E4}"/>
                </a:ext>
              </a:extLst>
            </p:cNvPr>
            <p:cNvSpPr/>
            <p:nvPr userDrawn="1"/>
          </p:nvSpPr>
          <p:spPr>
            <a:xfrm>
              <a:off x="295564" y="2349571"/>
              <a:ext cx="120072" cy="2458061"/>
            </a:xfrm>
            <a:prstGeom prst="rect">
              <a:avLst/>
            </a:prstGeom>
            <a:solidFill>
              <a:srgbClr val="00758D"/>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D42D67-E501-E4B6-7C4D-55420A6CCE00}"/>
                </a:ext>
              </a:extLst>
            </p:cNvPr>
            <p:cNvSpPr/>
            <p:nvPr userDrawn="1"/>
          </p:nvSpPr>
          <p:spPr>
            <a:xfrm>
              <a:off x="415636" y="2349571"/>
              <a:ext cx="2346037" cy="2458061"/>
            </a:xfrm>
            <a:prstGeom prst="rect">
              <a:avLst/>
            </a:prstGeom>
            <a:solidFill>
              <a:schemeClr val="bg1"/>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65E02671-F7AC-2877-8B22-6A7ACEFB746A}"/>
              </a:ext>
            </a:extLst>
          </p:cNvPr>
          <p:cNvGrpSpPr/>
          <p:nvPr userDrawn="1"/>
        </p:nvGrpSpPr>
        <p:grpSpPr>
          <a:xfrm>
            <a:off x="3057235" y="2594734"/>
            <a:ext cx="2466109" cy="3086315"/>
            <a:chOff x="295564" y="2349571"/>
            <a:chExt cx="2466109" cy="2458061"/>
          </a:xfrm>
          <a:effectLst>
            <a:outerShdw blurRad="50800" dist="38100" dir="2700000" algn="tl" rotWithShape="0">
              <a:prstClr val="black">
                <a:alpha val="40000"/>
              </a:prstClr>
            </a:outerShdw>
          </a:effectLst>
        </p:grpSpPr>
        <p:sp>
          <p:nvSpPr>
            <p:cNvPr id="16" name="Rectangle 15">
              <a:extLst>
                <a:ext uri="{FF2B5EF4-FFF2-40B4-BE49-F238E27FC236}">
                  <a16:creationId xmlns:a16="http://schemas.microsoft.com/office/drawing/2014/main" id="{73285D4F-24A5-812E-68B6-1ACBDA7918CE}"/>
                </a:ext>
              </a:extLst>
            </p:cNvPr>
            <p:cNvSpPr/>
            <p:nvPr userDrawn="1"/>
          </p:nvSpPr>
          <p:spPr>
            <a:xfrm>
              <a:off x="295564" y="2349571"/>
              <a:ext cx="120072" cy="2458061"/>
            </a:xfrm>
            <a:prstGeom prst="rect">
              <a:avLst/>
            </a:prstGeom>
            <a:solidFill>
              <a:srgbClr val="473B70"/>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6C628C"/>
                </a:solidFill>
              </a:endParaRPr>
            </a:p>
          </p:txBody>
        </p:sp>
        <p:sp>
          <p:nvSpPr>
            <p:cNvPr id="17" name="Rectangle 16">
              <a:extLst>
                <a:ext uri="{FF2B5EF4-FFF2-40B4-BE49-F238E27FC236}">
                  <a16:creationId xmlns:a16="http://schemas.microsoft.com/office/drawing/2014/main" id="{38020B7E-CC51-1640-0CD7-2290322D3E04}"/>
                </a:ext>
              </a:extLst>
            </p:cNvPr>
            <p:cNvSpPr/>
            <p:nvPr userDrawn="1"/>
          </p:nvSpPr>
          <p:spPr>
            <a:xfrm>
              <a:off x="415636" y="2349571"/>
              <a:ext cx="2346037" cy="2458061"/>
            </a:xfrm>
            <a:prstGeom prst="rect">
              <a:avLst/>
            </a:prstGeom>
            <a:solidFill>
              <a:schemeClr val="bg1"/>
            </a:solidFill>
            <a:ln w="28575">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a:extLst>
              <a:ext uri="{FF2B5EF4-FFF2-40B4-BE49-F238E27FC236}">
                <a16:creationId xmlns:a16="http://schemas.microsoft.com/office/drawing/2014/main" id="{91840E76-48BA-856C-B501-AD07C67D989E}"/>
              </a:ext>
            </a:extLst>
          </p:cNvPr>
          <p:cNvSpPr txBox="1"/>
          <p:nvPr userDrawn="1"/>
        </p:nvSpPr>
        <p:spPr>
          <a:xfrm>
            <a:off x="628072" y="2665698"/>
            <a:ext cx="2235199" cy="400110"/>
          </a:xfrm>
          <a:prstGeom prst="rect">
            <a:avLst/>
          </a:prstGeom>
          <a:noFill/>
        </p:spPr>
        <p:txBody>
          <a:bodyPr wrap="square" rtlCol="0">
            <a:spAutoFit/>
          </a:bodyPr>
          <a:lstStyle/>
          <a:p>
            <a:r>
              <a:rPr lang="en-US" sz="2000" b="1">
                <a:solidFill>
                  <a:srgbClr val="00758D"/>
                </a:solidFill>
                <a:latin typeface="Open Sans Light" panose="020B0306030504020204" pitchFamily="34" charset="0"/>
                <a:ea typeface="Open Sans Light" panose="020B0306030504020204" pitchFamily="34" charset="0"/>
                <a:cs typeface="Open Sans Light" panose="020B0306030504020204" pitchFamily="34" charset="0"/>
              </a:rPr>
              <a:t>Vector A</a:t>
            </a:r>
          </a:p>
        </p:txBody>
      </p:sp>
      <p:sp>
        <p:nvSpPr>
          <p:cNvPr id="19" name="TextBox 18">
            <a:extLst>
              <a:ext uri="{FF2B5EF4-FFF2-40B4-BE49-F238E27FC236}">
                <a16:creationId xmlns:a16="http://schemas.microsoft.com/office/drawing/2014/main" id="{27A2BC08-1241-5E31-77CE-CDF2FADCCC05}"/>
              </a:ext>
            </a:extLst>
          </p:cNvPr>
          <p:cNvSpPr txBox="1"/>
          <p:nvPr userDrawn="1"/>
        </p:nvSpPr>
        <p:spPr>
          <a:xfrm>
            <a:off x="3232725" y="2665698"/>
            <a:ext cx="2235199" cy="400110"/>
          </a:xfrm>
          <a:prstGeom prst="rect">
            <a:avLst/>
          </a:prstGeom>
          <a:noFill/>
        </p:spPr>
        <p:txBody>
          <a:bodyPr wrap="square" rtlCol="0">
            <a:spAutoFit/>
          </a:bodyPr>
          <a:lstStyle/>
          <a:p>
            <a:r>
              <a:rPr lang="en-US" sz="2000" b="1">
                <a:solidFill>
                  <a:srgbClr val="473B70"/>
                </a:solidFill>
                <a:latin typeface="Open Sans Light" panose="020B0306030504020204" pitchFamily="34" charset="0"/>
                <a:ea typeface="Open Sans Light" panose="020B0306030504020204" pitchFamily="34" charset="0"/>
                <a:cs typeface="Open Sans Light" panose="020B0306030504020204" pitchFamily="34" charset="0"/>
              </a:rPr>
              <a:t>Vector B</a:t>
            </a:r>
          </a:p>
        </p:txBody>
      </p:sp>
      <p:sp>
        <p:nvSpPr>
          <p:cNvPr id="20" name="TextBox 19">
            <a:extLst>
              <a:ext uri="{FF2B5EF4-FFF2-40B4-BE49-F238E27FC236}">
                <a16:creationId xmlns:a16="http://schemas.microsoft.com/office/drawing/2014/main" id="{8084FBCA-97AE-472D-4311-20AEE7A79904}"/>
              </a:ext>
            </a:extLst>
          </p:cNvPr>
          <p:cNvSpPr txBox="1"/>
          <p:nvPr userDrawn="1"/>
        </p:nvSpPr>
        <p:spPr>
          <a:xfrm>
            <a:off x="5717307" y="2665698"/>
            <a:ext cx="2456875" cy="707886"/>
          </a:xfrm>
          <a:prstGeom prst="rect">
            <a:avLst/>
          </a:prstGeom>
          <a:noFill/>
        </p:spPr>
        <p:txBody>
          <a:bodyPr wrap="square" rtlCol="0">
            <a:spAutoFit/>
          </a:bodyPr>
          <a:lstStyle/>
          <a:p>
            <a:r>
              <a:rPr lang="en-US" sz="20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Points of Convergence</a:t>
            </a:r>
          </a:p>
        </p:txBody>
      </p:sp>
      <p:sp>
        <p:nvSpPr>
          <p:cNvPr id="21" name="TextBox 20">
            <a:extLst>
              <a:ext uri="{FF2B5EF4-FFF2-40B4-BE49-F238E27FC236}">
                <a16:creationId xmlns:a16="http://schemas.microsoft.com/office/drawing/2014/main" id="{D4C1D642-80E9-0B39-4347-32745D662985}"/>
              </a:ext>
            </a:extLst>
          </p:cNvPr>
          <p:cNvSpPr txBox="1"/>
          <p:nvPr userDrawn="1"/>
        </p:nvSpPr>
        <p:spPr>
          <a:xfrm>
            <a:off x="8712195" y="2478182"/>
            <a:ext cx="3098801" cy="338554"/>
          </a:xfrm>
          <a:prstGeom prst="rect">
            <a:avLst/>
          </a:prstGeom>
          <a:noFill/>
        </p:spPr>
        <p:txBody>
          <a:bodyPr wrap="square" rtlCol="0">
            <a:spAutoFit/>
          </a:bodyPr>
          <a:lstStyle/>
          <a:p>
            <a:pPr algn="ctr"/>
            <a:r>
              <a:rPr lang="en-US" sz="1600" b="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Your Project’s Contribution</a:t>
            </a:r>
          </a:p>
        </p:txBody>
      </p:sp>
    </p:spTree>
    <p:extLst>
      <p:ext uri="{BB962C8B-B14F-4D97-AF65-F5344CB8AC3E}">
        <p14:creationId xmlns:p14="http://schemas.microsoft.com/office/powerpoint/2010/main" val="2362569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58781-A944-9746-223C-938B2E6895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B987CF-1907-5F47-3733-62F661E6C7FD}"/>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BD8E84-15E6-2780-3D3A-4432F859AF53}"/>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3A75-B000-3A79-85AB-3AF178EA84F3}"/>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6" name="Footer Placeholder 5">
            <a:extLst>
              <a:ext uri="{FF2B5EF4-FFF2-40B4-BE49-F238E27FC236}">
                <a16:creationId xmlns:a16="http://schemas.microsoft.com/office/drawing/2014/main" id="{DF5E350C-BC3E-C6D8-4C07-D49C51A13F7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65DAF7AD-F715-ED84-8F33-2A69D546A6E6}"/>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3230070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EC8534E-CAA4-A88B-9438-ECB90328790C}"/>
              </a:ext>
            </a:extLst>
          </p:cNvPr>
          <p:cNvGrpSpPr/>
          <p:nvPr userDrawn="1"/>
        </p:nvGrpSpPr>
        <p:grpSpPr>
          <a:xfrm>
            <a:off x="162581" y="1190547"/>
            <a:ext cx="146649" cy="4916960"/>
            <a:chOff x="205713" y="1199171"/>
            <a:chExt cx="146649" cy="4916960"/>
          </a:xfrm>
          <a:solidFill>
            <a:srgbClr val="002554"/>
          </a:solidFill>
        </p:grpSpPr>
        <p:sp>
          <p:nvSpPr>
            <p:cNvPr id="2" name="Oval 1">
              <a:extLst>
                <a:ext uri="{FF2B5EF4-FFF2-40B4-BE49-F238E27FC236}">
                  <a16:creationId xmlns:a16="http://schemas.microsoft.com/office/drawing/2014/main" id="{9234D836-D51C-9225-57EC-1BC3A19B9A39}"/>
                </a:ext>
              </a:extLst>
            </p:cNvPr>
            <p:cNvSpPr/>
            <p:nvPr userDrawn="1"/>
          </p:nvSpPr>
          <p:spPr>
            <a:xfrm rot="18732921">
              <a:off x="205713" y="1199171"/>
              <a:ext cx="146649" cy="14664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FC285084-610F-1AC0-F48F-9B7300D9758E}"/>
                </a:ext>
              </a:extLst>
            </p:cNvPr>
            <p:cNvCxnSpPr>
              <a:cxnSpLocks/>
            </p:cNvCxnSpPr>
            <p:nvPr userDrawn="1"/>
          </p:nvCxnSpPr>
          <p:spPr>
            <a:xfrm flipV="1">
              <a:off x="279037" y="1324314"/>
              <a:ext cx="0" cy="4791817"/>
            </a:xfrm>
            <a:prstGeom prst="line">
              <a:avLst/>
            </a:prstGeom>
            <a:grpFill/>
            <a:ln>
              <a:solidFill>
                <a:srgbClr val="002554"/>
              </a:solidFill>
            </a:ln>
          </p:spPr>
          <p:style>
            <a:lnRef idx="2">
              <a:schemeClr val="accent1"/>
            </a:lnRef>
            <a:fillRef idx="0">
              <a:schemeClr val="accent1"/>
            </a:fillRef>
            <a:effectRef idx="1">
              <a:schemeClr val="accent1"/>
            </a:effectRef>
            <a:fontRef idx="minor">
              <a:schemeClr val="tx1"/>
            </a:fontRef>
          </p:style>
        </p:cxnSp>
      </p:grpSp>
      <p:sp>
        <p:nvSpPr>
          <p:cNvPr id="21" name="TextBox 20">
            <a:extLst>
              <a:ext uri="{FF2B5EF4-FFF2-40B4-BE49-F238E27FC236}">
                <a16:creationId xmlns:a16="http://schemas.microsoft.com/office/drawing/2014/main" id="{79274663-F8B0-4427-51AB-8A23FC4B6625}"/>
              </a:ext>
            </a:extLst>
          </p:cNvPr>
          <p:cNvSpPr txBox="1"/>
          <p:nvPr userDrawn="1"/>
        </p:nvSpPr>
        <p:spPr>
          <a:xfrm>
            <a:off x="339480" y="1367446"/>
            <a:ext cx="2235199" cy="338554"/>
          </a:xfrm>
          <a:prstGeom prst="rect">
            <a:avLst/>
          </a:prstGeom>
          <a:noFill/>
        </p:spPr>
        <p:txBody>
          <a:bodyPr wrap="square" rtlCol="0">
            <a:spAutoFit/>
          </a:bodyPr>
          <a:lstStyle/>
          <a:p>
            <a:r>
              <a:rPr lang="en-US" sz="1600" b="1">
                <a:solidFill>
                  <a:srgbClr val="002554"/>
                </a:solidFill>
                <a:latin typeface="Open Sans Light" panose="020B0306030504020204" pitchFamily="34" charset="0"/>
                <a:ea typeface="Open Sans Light" panose="020B0306030504020204" pitchFamily="34" charset="0"/>
                <a:cs typeface="Open Sans Light" panose="020B0306030504020204" pitchFamily="34" charset="0"/>
              </a:rPr>
              <a:t>Problem to Solve</a:t>
            </a:r>
          </a:p>
        </p:txBody>
      </p:sp>
      <p:grpSp>
        <p:nvGrpSpPr>
          <p:cNvPr id="23" name="Group 22">
            <a:extLst>
              <a:ext uri="{FF2B5EF4-FFF2-40B4-BE49-F238E27FC236}">
                <a16:creationId xmlns:a16="http://schemas.microsoft.com/office/drawing/2014/main" id="{97EEA15F-274F-5D93-A28C-6A988AAA186F}"/>
              </a:ext>
            </a:extLst>
          </p:cNvPr>
          <p:cNvGrpSpPr/>
          <p:nvPr userDrawn="1"/>
        </p:nvGrpSpPr>
        <p:grpSpPr>
          <a:xfrm>
            <a:off x="334252" y="2343613"/>
            <a:ext cx="146649" cy="3763894"/>
            <a:chOff x="205713" y="1199171"/>
            <a:chExt cx="146649" cy="3763894"/>
          </a:xfrm>
          <a:solidFill>
            <a:srgbClr val="00758D"/>
          </a:solidFill>
        </p:grpSpPr>
        <p:sp>
          <p:nvSpPr>
            <p:cNvPr id="25" name="Oval 24">
              <a:extLst>
                <a:ext uri="{FF2B5EF4-FFF2-40B4-BE49-F238E27FC236}">
                  <a16:creationId xmlns:a16="http://schemas.microsoft.com/office/drawing/2014/main" id="{955548AC-4768-67E8-7B53-623A56A607C3}"/>
                </a:ext>
              </a:extLst>
            </p:cNvPr>
            <p:cNvSpPr/>
            <p:nvPr userDrawn="1"/>
          </p:nvSpPr>
          <p:spPr>
            <a:xfrm rot="18732921">
              <a:off x="205713" y="1199171"/>
              <a:ext cx="146649" cy="14664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224A0F78-583E-73E8-11AA-C15022C39C53}"/>
                </a:ext>
              </a:extLst>
            </p:cNvPr>
            <p:cNvCxnSpPr>
              <a:cxnSpLocks/>
            </p:cNvCxnSpPr>
            <p:nvPr userDrawn="1"/>
          </p:nvCxnSpPr>
          <p:spPr>
            <a:xfrm flipV="1">
              <a:off x="279037" y="1324314"/>
              <a:ext cx="0" cy="3638751"/>
            </a:xfrm>
            <a:prstGeom prst="line">
              <a:avLst/>
            </a:prstGeom>
            <a:grpFill/>
            <a:ln>
              <a:solidFill>
                <a:srgbClr val="00758D"/>
              </a:solidFill>
            </a:ln>
          </p:spPr>
          <p:style>
            <a:lnRef idx="2">
              <a:schemeClr val="accent1"/>
            </a:lnRef>
            <a:fillRef idx="0">
              <a:schemeClr val="accent1"/>
            </a:fillRef>
            <a:effectRef idx="1">
              <a:schemeClr val="accent1"/>
            </a:effectRef>
            <a:fontRef idx="minor">
              <a:schemeClr val="tx1"/>
            </a:fontRef>
          </p:style>
        </p:cxnSp>
      </p:grpSp>
      <p:sp>
        <p:nvSpPr>
          <p:cNvPr id="39" name="TextBox 38">
            <a:extLst>
              <a:ext uri="{FF2B5EF4-FFF2-40B4-BE49-F238E27FC236}">
                <a16:creationId xmlns:a16="http://schemas.microsoft.com/office/drawing/2014/main" id="{BA7A3C8A-4CAA-AAA3-7366-1012CFD7A221}"/>
              </a:ext>
            </a:extLst>
          </p:cNvPr>
          <p:cNvSpPr txBox="1"/>
          <p:nvPr userDrawn="1"/>
        </p:nvSpPr>
        <p:spPr>
          <a:xfrm>
            <a:off x="511151" y="2530736"/>
            <a:ext cx="2235199" cy="338554"/>
          </a:xfrm>
          <a:prstGeom prst="rect">
            <a:avLst/>
          </a:prstGeom>
          <a:noFill/>
        </p:spPr>
        <p:txBody>
          <a:bodyPr wrap="square" rtlCol="0">
            <a:spAutoFit/>
          </a:bodyPr>
          <a:lstStyle/>
          <a:p>
            <a:r>
              <a:rPr lang="en-US" sz="1600" b="1">
                <a:solidFill>
                  <a:srgbClr val="00758D"/>
                </a:solidFill>
                <a:latin typeface="Open Sans Light" panose="020B0306030504020204" pitchFamily="34" charset="0"/>
                <a:ea typeface="Open Sans Light" panose="020B0306030504020204" pitchFamily="34" charset="0"/>
                <a:cs typeface="Open Sans Light" panose="020B0306030504020204" pitchFamily="34" charset="0"/>
              </a:rPr>
              <a:t>Vector A</a:t>
            </a:r>
          </a:p>
        </p:txBody>
      </p:sp>
      <p:grpSp>
        <p:nvGrpSpPr>
          <p:cNvPr id="41" name="Group 40">
            <a:extLst>
              <a:ext uri="{FF2B5EF4-FFF2-40B4-BE49-F238E27FC236}">
                <a16:creationId xmlns:a16="http://schemas.microsoft.com/office/drawing/2014/main" id="{6E8E2698-F3E9-82C4-8268-08429E4616C7}"/>
              </a:ext>
            </a:extLst>
          </p:cNvPr>
          <p:cNvGrpSpPr/>
          <p:nvPr userDrawn="1"/>
        </p:nvGrpSpPr>
        <p:grpSpPr>
          <a:xfrm>
            <a:off x="505922" y="3615952"/>
            <a:ext cx="146649" cy="2491555"/>
            <a:chOff x="205713" y="1199171"/>
            <a:chExt cx="146649" cy="2491555"/>
          </a:xfrm>
          <a:solidFill>
            <a:srgbClr val="473B70"/>
          </a:solidFill>
        </p:grpSpPr>
        <p:sp>
          <p:nvSpPr>
            <p:cNvPr id="42" name="Oval 41">
              <a:extLst>
                <a:ext uri="{FF2B5EF4-FFF2-40B4-BE49-F238E27FC236}">
                  <a16:creationId xmlns:a16="http://schemas.microsoft.com/office/drawing/2014/main" id="{EB61D650-71C8-2491-CD31-01504BF0E0EA}"/>
                </a:ext>
              </a:extLst>
            </p:cNvPr>
            <p:cNvSpPr/>
            <p:nvPr userDrawn="1"/>
          </p:nvSpPr>
          <p:spPr>
            <a:xfrm rot="18732921">
              <a:off x="205713" y="1199171"/>
              <a:ext cx="146649" cy="14664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4E2EC059-35B0-7E25-BCF2-8D45735BC88D}"/>
                </a:ext>
              </a:extLst>
            </p:cNvPr>
            <p:cNvCxnSpPr>
              <a:cxnSpLocks/>
            </p:cNvCxnSpPr>
            <p:nvPr userDrawn="1"/>
          </p:nvCxnSpPr>
          <p:spPr>
            <a:xfrm flipV="1">
              <a:off x="279037" y="1324314"/>
              <a:ext cx="0" cy="2366412"/>
            </a:xfrm>
            <a:prstGeom prst="line">
              <a:avLst/>
            </a:prstGeom>
            <a:grpFill/>
            <a:ln>
              <a:solidFill>
                <a:srgbClr val="002554"/>
              </a:solidFill>
            </a:ln>
          </p:spPr>
          <p:style>
            <a:lnRef idx="2">
              <a:schemeClr val="accent1"/>
            </a:lnRef>
            <a:fillRef idx="0">
              <a:schemeClr val="accent1"/>
            </a:fillRef>
            <a:effectRef idx="1">
              <a:schemeClr val="accent1"/>
            </a:effectRef>
            <a:fontRef idx="minor">
              <a:schemeClr val="tx1"/>
            </a:fontRef>
          </p:style>
        </p:cxnSp>
      </p:grpSp>
      <p:sp>
        <p:nvSpPr>
          <p:cNvPr id="44" name="TextBox 43">
            <a:extLst>
              <a:ext uri="{FF2B5EF4-FFF2-40B4-BE49-F238E27FC236}">
                <a16:creationId xmlns:a16="http://schemas.microsoft.com/office/drawing/2014/main" id="{192C098D-BF08-1BCE-2094-878AC9F780EC}"/>
              </a:ext>
            </a:extLst>
          </p:cNvPr>
          <p:cNvSpPr txBox="1"/>
          <p:nvPr userDrawn="1"/>
        </p:nvSpPr>
        <p:spPr>
          <a:xfrm>
            <a:off x="682821" y="3872102"/>
            <a:ext cx="2235199" cy="338554"/>
          </a:xfrm>
          <a:prstGeom prst="rect">
            <a:avLst/>
          </a:prstGeom>
          <a:noFill/>
        </p:spPr>
        <p:txBody>
          <a:bodyPr wrap="square" rtlCol="0">
            <a:spAutoFit/>
          </a:bodyPr>
          <a:lstStyle/>
          <a:p>
            <a:r>
              <a:rPr lang="en-US" sz="1600" b="1">
                <a:solidFill>
                  <a:srgbClr val="473B70"/>
                </a:solidFill>
                <a:latin typeface="Open Sans Light" panose="020B0306030504020204" pitchFamily="34" charset="0"/>
                <a:ea typeface="Open Sans Light" panose="020B0306030504020204" pitchFamily="34" charset="0"/>
                <a:cs typeface="Open Sans Light" panose="020B0306030504020204" pitchFamily="34" charset="0"/>
              </a:rPr>
              <a:t>Vector B</a:t>
            </a:r>
          </a:p>
        </p:txBody>
      </p:sp>
      <p:grpSp>
        <p:nvGrpSpPr>
          <p:cNvPr id="45" name="Group 44">
            <a:extLst>
              <a:ext uri="{FF2B5EF4-FFF2-40B4-BE49-F238E27FC236}">
                <a16:creationId xmlns:a16="http://schemas.microsoft.com/office/drawing/2014/main" id="{3FF84404-70FD-6A8F-CD7E-DC2FCB86341B}"/>
              </a:ext>
            </a:extLst>
          </p:cNvPr>
          <p:cNvGrpSpPr/>
          <p:nvPr userDrawn="1"/>
        </p:nvGrpSpPr>
        <p:grpSpPr>
          <a:xfrm>
            <a:off x="8364283" y="1190547"/>
            <a:ext cx="146649" cy="4916960"/>
            <a:chOff x="205713" y="1199171"/>
            <a:chExt cx="146649" cy="4916960"/>
          </a:xfrm>
          <a:solidFill>
            <a:srgbClr val="DAD7E2"/>
          </a:solidFill>
        </p:grpSpPr>
        <p:sp>
          <p:nvSpPr>
            <p:cNvPr id="46" name="Oval 45">
              <a:extLst>
                <a:ext uri="{FF2B5EF4-FFF2-40B4-BE49-F238E27FC236}">
                  <a16:creationId xmlns:a16="http://schemas.microsoft.com/office/drawing/2014/main" id="{8C058868-FCA5-8BF6-F84B-BD5DD245871C}"/>
                </a:ext>
              </a:extLst>
            </p:cNvPr>
            <p:cNvSpPr/>
            <p:nvPr userDrawn="1"/>
          </p:nvSpPr>
          <p:spPr>
            <a:xfrm rot="18732921">
              <a:off x="205713" y="1199171"/>
              <a:ext cx="146649" cy="146649"/>
            </a:xfrm>
            <a:prstGeom prst="ellipse">
              <a:avLst/>
            </a:prstGeom>
            <a:solidFill>
              <a:srgbClr val="0056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12FC6C5B-5893-E313-E609-FF7FF0554712}"/>
                </a:ext>
              </a:extLst>
            </p:cNvPr>
            <p:cNvCxnSpPr>
              <a:cxnSpLocks/>
            </p:cNvCxnSpPr>
            <p:nvPr userDrawn="1"/>
          </p:nvCxnSpPr>
          <p:spPr>
            <a:xfrm flipV="1">
              <a:off x="279037" y="1324314"/>
              <a:ext cx="0" cy="4791817"/>
            </a:xfrm>
            <a:prstGeom prst="line">
              <a:avLst/>
            </a:prstGeom>
            <a:grpFill/>
            <a:ln>
              <a:solidFill>
                <a:srgbClr val="005699"/>
              </a:solidFill>
            </a:ln>
          </p:spPr>
          <p:style>
            <a:lnRef idx="2">
              <a:schemeClr val="accent1"/>
            </a:lnRef>
            <a:fillRef idx="0">
              <a:schemeClr val="accent1"/>
            </a:fillRef>
            <a:effectRef idx="1">
              <a:schemeClr val="accent1"/>
            </a:effectRef>
            <a:fontRef idx="minor">
              <a:schemeClr val="tx1"/>
            </a:fontRef>
          </p:style>
        </p:cxnSp>
      </p:grpSp>
      <p:sp>
        <p:nvSpPr>
          <p:cNvPr id="48" name="TextBox 47">
            <a:extLst>
              <a:ext uri="{FF2B5EF4-FFF2-40B4-BE49-F238E27FC236}">
                <a16:creationId xmlns:a16="http://schemas.microsoft.com/office/drawing/2014/main" id="{17ED2AE3-10D4-BAD2-8B94-F9C20E00FB71}"/>
              </a:ext>
            </a:extLst>
          </p:cNvPr>
          <p:cNvSpPr txBox="1"/>
          <p:nvPr userDrawn="1"/>
        </p:nvSpPr>
        <p:spPr>
          <a:xfrm>
            <a:off x="758625" y="5033429"/>
            <a:ext cx="2235199" cy="338554"/>
          </a:xfrm>
          <a:prstGeom prst="rect">
            <a:avLst/>
          </a:prstGeom>
          <a:noFill/>
        </p:spPr>
        <p:txBody>
          <a:bodyPr wrap="square" rtlCol="0">
            <a:spAutoFit/>
          </a:bodyPr>
          <a:lstStyle/>
          <a:p>
            <a:r>
              <a:rPr lang="en-US" sz="1600" b="1">
                <a:solidFill>
                  <a:srgbClr val="D3B34E"/>
                </a:solidFill>
                <a:latin typeface="Open Sans Light" panose="020B0306030504020204" pitchFamily="34" charset="0"/>
                <a:ea typeface="Open Sans Light" panose="020B0306030504020204" pitchFamily="34" charset="0"/>
                <a:cs typeface="Open Sans Light" panose="020B0306030504020204" pitchFamily="34" charset="0"/>
              </a:rPr>
              <a:t>Convergence</a:t>
            </a:r>
          </a:p>
        </p:txBody>
      </p:sp>
      <p:grpSp>
        <p:nvGrpSpPr>
          <p:cNvPr id="49" name="Group 48">
            <a:extLst>
              <a:ext uri="{FF2B5EF4-FFF2-40B4-BE49-F238E27FC236}">
                <a16:creationId xmlns:a16="http://schemas.microsoft.com/office/drawing/2014/main" id="{8AE7DC4D-31FA-1005-6C33-E80AF674658E}"/>
              </a:ext>
            </a:extLst>
          </p:cNvPr>
          <p:cNvGrpSpPr/>
          <p:nvPr userDrawn="1"/>
        </p:nvGrpSpPr>
        <p:grpSpPr>
          <a:xfrm>
            <a:off x="685301" y="4870414"/>
            <a:ext cx="146649" cy="1237093"/>
            <a:chOff x="205713" y="1199171"/>
            <a:chExt cx="146649" cy="1237093"/>
          </a:xfrm>
          <a:solidFill>
            <a:srgbClr val="D3B34E"/>
          </a:solidFill>
        </p:grpSpPr>
        <p:sp>
          <p:nvSpPr>
            <p:cNvPr id="50" name="Oval 49">
              <a:extLst>
                <a:ext uri="{FF2B5EF4-FFF2-40B4-BE49-F238E27FC236}">
                  <a16:creationId xmlns:a16="http://schemas.microsoft.com/office/drawing/2014/main" id="{9C0F7BC7-4EA7-3EA5-1482-41ED311EECC5}"/>
                </a:ext>
              </a:extLst>
            </p:cNvPr>
            <p:cNvSpPr/>
            <p:nvPr userDrawn="1"/>
          </p:nvSpPr>
          <p:spPr>
            <a:xfrm rot="18732921">
              <a:off x="205713" y="1199171"/>
              <a:ext cx="146649" cy="14664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828D6E7F-D1B0-1D69-8AE1-CB1F90FF907C}"/>
                </a:ext>
              </a:extLst>
            </p:cNvPr>
            <p:cNvCxnSpPr>
              <a:cxnSpLocks/>
            </p:cNvCxnSpPr>
            <p:nvPr userDrawn="1"/>
          </p:nvCxnSpPr>
          <p:spPr>
            <a:xfrm flipV="1">
              <a:off x="279037" y="1324314"/>
              <a:ext cx="0" cy="1111950"/>
            </a:xfrm>
            <a:prstGeom prst="line">
              <a:avLst/>
            </a:prstGeom>
            <a:grpFill/>
            <a:ln>
              <a:solidFill>
                <a:srgbClr val="D3B34E"/>
              </a:solidFill>
            </a:ln>
          </p:spPr>
          <p:style>
            <a:lnRef idx="2">
              <a:schemeClr val="accent1"/>
            </a:lnRef>
            <a:fillRef idx="0">
              <a:schemeClr val="accent1"/>
            </a:fillRef>
            <a:effectRef idx="1">
              <a:schemeClr val="accent1"/>
            </a:effectRef>
            <a:fontRef idx="minor">
              <a:schemeClr val="tx1"/>
            </a:fontRef>
          </p:style>
        </p:cxnSp>
      </p:grpSp>
      <p:sp>
        <p:nvSpPr>
          <p:cNvPr id="52" name="TextBox 51">
            <a:extLst>
              <a:ext uri="{FF2B5EF4-FFF2-40B4-BE49-F238E27FC236}">
                <a16:creationId xmlns:a16="http://schemas.microsoft.com/office/drawing/2014/main" id="{5D20E353-BF01-50F8-D445-A6F1E724119C}"/>
              </a:ext>
            </a:extLst>
          </p:cNvPr>
          <p:cNvSpPr txBox="1"/>
          <p:nvPr userDrawn="1"/>
        </p:nvSpPr>
        <p:spPr>
          <a:xfrm>
            <a:off x="8541181" y="1367446"/>
            <a:ext cx="3182116" cy="338554"/>
          </a:xfrm>
          <a:prstGeom prst="rect">
            <a:avLst/>
          </a:prstGeom>
          <a:noFill/>
        </p:spPr>
        <p:txBody>
          <a:bodyPr wrap="square" rtlCol="0">
            <a:spAutoFit/>
          </a:bodyPr>
          <a:lstStyle/>
          <a:p>
            <a:r>
              <a:rPr lang="en-US" sz="1600" b="1">
                <a:solidFill>
                  <a:srgbClr val="005699"/>
                </a:solidFill>
                <a:latin typeface="Open Sans Light" panose="020B0306030504020204" pitchFamily="34" charset="0"/>
                <a:ea typeface="Open Sans Light" panose="020B0306030504020204" pitchFamily="34" charset="0"/>
                <a:cs typeface="Open Sans Light" panose="020B0306030504020204" pitchFamily="34" charset="0"/>
              </a:rPr>
              <a:t>Your Project’s Contribution</a:t>
            </a:r>
          </a:p>
        </p:txBody>
      </p:sp>
    </p:spTree>
    <p:extLst>
      <p:ext uri="{BB962C8B-B14F-4D97-AF65-F5344CB8AC3E}">
        <p14:creationId xmlns:p14="http://schemas.microsoft.com/office/powerpoint/2010/main" val="419158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B5E2B-B0C8-B67D-21A2-524BB80E89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79F91D-F3E7-C8E0-8D29-1F0F768DA6D0}"/>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EF08B4-1365-41C1-9671-9886F7D8FFFC}"/>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5E48D8-E30A-E7E5-1EAC-77356123DDB9}"/>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A91E9-5202-2C8D-5F9D-31203CF4882D}"/>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EA71F1-5E02-6EC5-A903-99BAF9042DF8}"/>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8" name="Footer Placeholder 7">
            <a:extLst>
              <a:ext uri="{FF2B5EF4-FFF2-40B4-BE49-F238E27FC236}">
                <a16:creationId xmlns:a16="http://schemas.microsoft.com/office/drawing/2014/main" id="{7B9A865A-5105-434D-6661-DEC86647059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C2A88F92-E6C2-F5C2-BF5A-6B4FF464AB3A}"/>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2319083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19996-8C88-F1DB-4350-271986D529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FFF8E0-42AC-0FD1-8F7A-B2F12DC9D03B}"/>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4" name="Footer Placeholder 3">
            <a:extLst>
              <a:ext uri="{FF2B5EF4-FFF2-40B4-BE49-F238E27FC236}">
                <a16:creationId xmlns:a16="http://schemas.microsoft.com/office/drawing/2014/main" id="{989661D3-29D7-3E8E-8642-22DCC3975A6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5996E415-CA33-D02A-FBF7-BBB3C10A7B09}"/>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3397353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9EE970-8E01-BD2D-08F2-E42735C3D35A}"/>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3" name="Footer Placeholder 2">
            <a:extLst>
              <a:ext uri="{FF2B5EF4-FFF2-40B4-BE49-F238E27FC236}">
                <a16:creationId xmlns:a16="http://schemas.microsoft.com/office/drawing/2014/main" id="{B6C95AAF-D088-CE62-E826-D1F7DFF32D5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78A788E-48D8-1B37-3358-9C9E3CBAE1C9}"/>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4209742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A99D0-87D5-7B65-8141-10CD8D6B39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851DB8-3668-EB9B-A630-79F096534A79}"/>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271274-EF00-E436-0653-59875A2C5DA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47FC6D-14F7-AA22-B589-0D7358391464}"/>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6" name="Footer Placeholder 5">
            <a:extLst>
              <a:ext uri="{FF2B5EF4-FFF2-40B4-BE49-F238E27FC236}">
                <a16:creationId xmlns:a16="http://schemas.microsoft.com/office/drawing/2014/main" id="{6F98C6F0-9A92-78E3-748F-3AC97E2A9AA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73DE5CE-503A-641C-5333-C2F1D04E2E0C}"/>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209321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A5F96-A683-3014-5E16-7E39108366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9F4F3E-34AA-F2FB-60E8-918166F5FD9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3B89F5-6769-7B29-6A8D-F8D2151D4AAE}"/>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A79A1C-C882-CF2E-0959-22FBDCB462AF}"/>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6" name="Footer Placeholder 5">
            <a:extLst>
              <a:ext uri="{FF2B5EF4-FFF2-40B4-BE49-F238E27FC236}">
                <a16:creationId xmlns:a16="http://schemas.microsoft.com/office/drawing/2014/main" id="{72B8364D-649B-F4E8-D75F-EB252194EE4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306D601-B500-6910-9CF6-A0B66248D578}"/>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4137079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58B5B-77DB-EB6B-BEEC-301C768DF3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00ABF1-6980-4729-1BBB-67EEDA7916DF}"/>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F608AC-9C99-C9E2-F058-0A69D0BC463A}"/>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5" name="Footer Placeholder 4">
            <a:extLst>
              <a:ext uri="{FF2B5EF4-FFF2-40B4-BE49-F238E27FC236}">
                <a16:creationId xmlns:a16="http://schemas.microsoft.com/office/drawing/2014/main" id="{D5F60B51-25D7-1525-BDC8-E53C37125D1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86FC550-8ACB-BD09-6703-A69D2214920C}"/>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1447860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163C74-9576-8D01-4214-6BC707616B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0513CF-DFC6-9324-B8BC-D5A84889505C}"/>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DF2CA8-6E39-3897-CB06-0FE878C78CA6}"/>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5" name="Footer Placeholder 4">
            <a:extLst>
              <a:ext uri="{FF2B5EF4-FFF2-40B4-BE49-F238E27FC236}">
                <a16:creationId xmlns:a16="http://schemas.microsoft.com/office/drawing/2014/main" id="{CCBB26BB-49F5-91FB-01DF-86794253843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4AD7591-2736-E34B-4A63-E3F527B3A3A9}"/>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935182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EC8534E-CAA4-A88B-9438-ECB90328790C}"/>
              </a:ext>
            </a:extLst>
          </p:cNvPr>
          <p:cNvGrpSpPr/>
          <p:nvPr userDrawn="1"/>
        </p:nvGrpSpPr>
        <p:grpSpPr>
          <a:xfrm>
            <a:off x="162581" y="1190547"/>
            <a:ext cx="146649" cy="4916960"/>
            <a:chOff x="205713" y="1199171"/>
            <a:chExt cx="146649" cy="4916960"/>
          </a:xfrm>
          <a:solidFill>
            <a:srgbClr val="005699"/>
          </a:solidFill>
        </p:grpSpPr>
        <p:sp>
          <p:nvSpPr>
            <p:cNvPr id="2" name="Oval 1">
              <a:extLst>
                <a:ext uri="{FF2B5EF4-FFF2-40B4-BE49-F238E27FC236}">
                  <a16:creationId xmlns:a16="http://schemas.microsoft.com/office/drawing/2014/main" id="{9234D836-D51C-9225-57EC-1BC3A19B9A39}"/>
                </a:ext>
              </a:extLst>
            </p:cNvPr>
            <p:cNvSpPr/>
            <p:nvPr userDrawn="1"/>
          </p:nvSpPr>
          <p:spPr>
            <a:xfrm rot="18732921">
              <a:off x="205713" y="1199171"/>
              <a:ext cx="146649" cy="14664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FC285084-610F-1AC0-F48F-9B7300D9758E}"/>
                </a:ext>
              </a:extLst>
            </p:cNvPr>
            <p:cNvCxnSpPr>
              <a:cxnSpLocks/>
            </p:cNvCxnSpPr>
            <p:nvPr userDrawn="1"/>
          </p:nvCxnSpPr>
          <p:spPr>
            <a:xfrm flipV="1">
              <a:off x="279037" y="1324314"/>
              <a:ext cx="0" cy="4791817"/>
            </a:xfrm>
            <a:prstGeom prst="line">
              <a:avLst/>
            </a:prstGeom>
            <a:grpFill/>
            <a:ln>
              <a:solidFill>
                <a:srgbClr val="005699"/>
              </a:solidFill>
            </a:ln>
          </p:spPr>
          <p:style>
            <a:lnRef idx="2">
              <a:schemeClr val="accent1"/>
            </a:lnRef>
            <a:fillRef idx="0">
              <a:schemeClr val="accent1"/>
            </a:fillRef>
            <a:effectRef idx="1">
              <a:schemeClr val="accent1"/>
            </a:effectRef>
            <a:fontRef idx="minor">
              <a:schemeClr val="tx1"/>
            </a:fontRef>
          </p:style>
        </p:cxnSp>
      </p:grpSp>
      <p:sp>
        <p:nvSpPr>
          <p:cNvPr id="21" name="TextBox 20">
            <a:extLst>
              <a:ext uri="{FF2B5EF4-FFF2-40B4-BE49-F238E27FC236}">
                <a16:creationId xmlns:a16="http://schemas.microsoft.com/office/drawing/2014/main" id="{79274663-F8B0-4427-51AB-8A23FC4B6625}"/>
              </a:ext>
            </a:extLst>
          </p:cNvPr>
          <p:cNvSpPr txBox="1"/>
          <p:nvPr userDrawn="1"/>
        </p:nvSpPr>
        <p:spPr>
          <a:xfrm>
            <a:off x="339480" y="1367446"/>
            <a:ext cx="2235199" cy="338554"/>
          </a:xfrm>
          <a:prstGeom prst="rect">
            <a:avLst/>
          </a:prstGeom>
          <a:noFill/>
        </p:spPr>
        <p:txBody>
          <a:bodyPr wrap="square" rtlCol="0">
            <a:spAutoFit/>
          </a:bodyPr>
          <a:lstStyle/>
          <a:p>
            <a:r>
              <a:rPr lang="en-US" sz="16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Vertical Problem</a:t>
            </a:r>
          </a:p>
        </p:txBody>
      </p:sp>
      <p:grpSp>
        <p:nvGrpSpPr>
          <p:cNvPr id="23" name="Group 22">
            <a:extLst>
              <a:ext uri="{FF2B5EF4-FFF2-40B4-BE49-F238E27FC236}">
                <a16:creationId xmlns:a16="http://schemas.microsoft.com/office/drawing/2014/main" id="{97EEA15F-274F-5D93-A28C-6A988AAA186F}"/>
              </a:ext>
            </a:extLst>
          </p:cNvPr>
          <p:cNvGrpSpPr/>
          <p:nvPr userDrawn="1"/>
        </p:nvGrpSpPr>
        <p:grpSpPr>
          <a:xfrm>
            <a:off x="305091" y="3775597"/>
            <a:ext cx="146649" cy="2331910"/>
            <a:chOff x="205713" y="1199171"/>
            <a:chExt cx="146649" cy="2331910"/>
          </a:xfrm>
          <a:solidFill>
            <a:srgbClr val="4EC3E0"/>
          </a:solidFill>
        </p:grpSpPr>
        <p:sp>
          <p:nvSpPr>
            <p:cNvPr id="25" name="Oval 24">
              <a:extLst>
                <a:ext uri="{FF2B5EF4-FFF2-40B4-BE49-F238E27FC236}">
                  <a16:creationId xmlns:a16="http://schemas.microsoft.com/office/drawing/2014/main" id="{955548AC-4768-67E8-7B53-623A56A607C3}"/>
                </a:ext>
              </a:extLst>
            </p:cNvPr>
            <p:cNvSpPr/>
            <p:nvPr userDrawn="1"/>
          </p:nvSpPr>
          <p:spPr>
            <a:xfrm rot="18732921">
              <a:off x="205713" y="1199171"/>
              <a:ext cx="146649" cy="14664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224A0F78-583E-73E8-11AA-C15022C39C53}"/>
                </a:ext>
              </a:extLst>
            </p:cNvPr>
            <p:cNvCxnSpPr>
              <a:cxnSpLocks/>
            </p:cNvCxnSpPr>
            <p:nvPr userDrawn="1"/>
          </p:nvCxnSpPr>
          <p:spPr>
            <a:xfrm flipV="1">
              <a:off x="279037" y="1324314"/>
              <a:ext cx="0" cy="2206767"/>
            </a:xfrm>
            <a:prstGeom prst="line">
              <a:avLst/>
            </a:prstGeom>
            <a:grpFill/>
            <a:ln>
              <a:solidFill>
                <a:srgbClr val="4EC3E0"/>
              </a:solidFill>
            </a:ln>
          </p:spPr>
          <p:style>
            <a:lnRef idx="2">
              <a:schemeClr val="accent1"/>
            </a:lnRef>
            <a:fillRef idx="0">
              <a:schemeClr val="accent1"/>
            </a:fillRef>
            <a:effectRef idx="1">
              <a:schemeClr val="accent1"/>
            </a:effectRef>
            <a:fontRef idx="minor">
              <a:schemeClr val="tx1"/>
            </a:fontRef>
          </p:style>
        </p:cxnSp>
      </p:grpSp>
      <p:sp>
        <p:nvSpPr>
          <p:cNvPr id="39" name="TextBox 38">
            <a:extLst>
              <a:ext uri="{FF2B5EF4-FFF2-40B4-BE49-F238E27FC236}">
                <a16:creationId xmlns:a16="http://schemas.microsoft.com/office/drawing/2014/main" id="{BA7A3C8A-4CAA-AAA3-7366-1012CFD7A221}"/>
              </a:ext>
            </a:extLst>
          </p:cNvPr>
          <p:cNvSpPr txBox="1"/>
          <p:nvPr userDrawn="1"/>
        </p:nvSpPr>
        <p:spPr>
          <a:xfrm>
            <a:off x="481990" y="3952496"/>
            <a:ext cx="2235199" cy="338554"/>
          </a:xfrm>
          <a:prstGeom prst="rect">
            <a:avLst/>
          </a:prstGeom>
          <a:noFill/>
        </p:spPr>
        <p:txBody>
          <a:bodyPr wrap="square" rtlCol="0">
            <a:spAutoFit/>
          </a:bodyPr>
          <a:lstStyle/>
          <a:p>
            <a:r>
              <a:rPr lang="en-US" sz="16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Proposed Solution</a:t>
            </a:r>
          </a:p>
        </p:txBody>
      </p:sp>
      <p:grpSp>
        <p:nvGrpSpPr>
          <p:cNvPr id="41" name="Group 40">
            <a:extLst>
              <a:ext uri="{FF2B5EF4-FFF2-40B4-BE49-F238E27FC236}">
                <a16:creationId xmlns:a16="http://schemas.microsoft.com/office/drawing/2014/main" id="{6E8E2698-F3E9-82C4-8268-08429E4616C7}"/>
              </a:ext>
            </a:extLst>
          </p:cNvPr>
          <p:cNvGrpSpPr/>
          <p:nvPr userDrawn="1"/>
        </p:nvGrpSpPr>
        <p:grpSpPr>
          <a:xfrm>
            <a:off x="4962257" y="1190547"/>
            <a:ext cx="146649" cy="4916960"/>
            <a:chOff x="205713" y="1199171"/>
            <a:chExt cx="146649" cy="4916960"/>
          </a:xfrm>
          <a:solidFill>
            <a:srgbClr val="473B70"/>
          </a:solidFill>
        </p:grpSpPr>
        <p:sp>
          <p:nvSpPr>
            <p:cNvPr id="42" name="Oval 41">
              <a:extLst>
                <a:ext uri="{FF2B5EF4-FFF2-40B4-BE49-F238E27FC236}">
                  <a16:creationId xmlns:a16="http://schemas.microsoft.com/office/drawing/2014/main" id="{EB61D650-71C8-2491-CD31-01504BF0E0EA}"/>
                </a:ext>
              </a:extLst>
            </p:cNvPr>
            <p:cNvSpPr/>
            <p:nvPr userDrawn="1"/>
          </p:nvSpPr>
          <p:spPr>
            <a:xfrm rot="18732921">
              <a:off x="205713" y="1199171"/>
              <a:ext cx="146649" cy="14664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4E2EC059-35B0-7E25-BCF2-8D45735BC88D}"/>
                </a:ext>
              </a:extLst>
            </p:cNvPr>
            <p:cNvCxnSpPr>
              <a:cxnSpLocks/>
            </p:cNvCxnSpPr>
            <p:nvPr userDrawn="1"/>
          </p:nvCxnSpPr>
          <p:spPr>
            <a:xfrm flipV="1">
              <a:off x="279037" y="1324314"/>
              <a:ext cx="0" cy="4791817"/>
            </a:xfrm>
            <a:prstGeom prst="line">
              <a:avLst/>
            </a:prstGeom>
            <a:grpFill/>
            <a:ln>
              <a:solidFill>
                <a:srgbClr val="002554"/>
              </a:solidFill>
            </a:ln>
          </p:spPr>
          <p:style>
            <a:lnRef idx="2">
              <a:schemeClr val="accent1"/>
            </a:lnRef>
            <a:fillRef idx="0">
              <a:schemeClr val="accent1"/>
            </a:fillRef>
            <a:effectRef idx="1">
              <a:schemeClr val="accent1"/>
            </a:effectRef>
            <a:fontRef idx="minor">
              <a:schemeClr val="tx1"/>
            </a:fontRef>
          </p:style>
        </p:cxnSp>
      </p:grpSp>
      <p:sp>
        <p:nvSpPr>
          <p:cNvPr id="44" name="TextBox 43">
            <a:extLst>
              <a:ext uri="{FF2B5EF4-FFF2-40B4-BE49-F238E27FC236}">
                <a16:creationId xmlns:a16="http://schemas.microsoft.com/office/drawing/2014/main" id="{192C098D-BF08-1BCE-2094-878AC9F780EC}"/>
              </a:ext>
            </a:extLst>
          </p:cNvPr>
          <p:cNvSpPr txBox="1"/>
          <p:nvPr userDrawn="1"/>
        </p:nvSpPr>
        <p:spPr>
          <a:xfrm>
            <a:off x="5139156" y="1367446"/>
            <a:ext cx="2235199" cy="338554"/>
          </a:xfrm>
          <a:prstGeom prst="rect">
            <a:avLst/>
          </a:prstGeom>
          <a:noFill/>
        </p:spPr>
        <p:txBody>
          <a:bodyPr wrap="square" rtlCol="0">
            <a:spAutoFit/>
          </a:bodyPr>
          <a:lstStyle/>
          <a:p>
            <a:r>
              <a:rPr lang="en-US" sz="16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Next Steps</a:t>
            </a:r>
          </a:p>
        </p:txBody>
      </p:sp>
      <p:grpSp>
        <p:nvGrpSpPr>
          <p:cNvPr id="45" name="Group 44">
            <a:extLst>
              <a:ext uri="{FF2B5EF4-FFF2-40B4-BE49-F238E27FC236}">
                <a16:creationId xmlns:a16="http://schemas.microsoft.com/office/drawing/2014/main" id="{3FF84404-70FD-6A8F-CD7E-DC2FCB86341B}"/>
              </a:ext>
            </a:extLst>
          </p:cNvPr>
          <p:cNvGrpSpPr/>
          <p:nvPr userDrawn="1"/>
        </p:nvGrpSpPr>
        <p:grpSpPr>
          <a:xfrm>
            <a:off x="8364283" y="1190547"/>
            <a:ext cx="146649" cy="4916960"/>
            <a:chOff x="205713" y="1199171"/>
            <a:chExt cx="146649" cy="4916960"/>
          </a:xfrm>
          <a:solidFill>
            <a:srgbClr val="DAD7E2"/>
          </a:solidFill>
        </p:grpSpPr>
        <p:sp>
          <p:nvSpPr>
            <p:cNvPr id="46" name="Oval 45">
              <a:extLst>
                <a:ext uri="{FF2B5EF4-FFF2-40B4-BE49-F238E27FC236}">
                  <a16:creationId xmlns:a16="http://schemas.microsoft.com/office/drawing/2014/main" id="{8C058868-FCA5-8BF6-F84B-BD5DD245871C}"/>
                </a:ext>
              </a:extLst>
            </p:cNvPr>
            <p:cNvSpPr/>
            <p:nvPr userDrawn="1"/>
          </p:nvSpPr>
          <p:spPr>
            <a:xfrm rot="18732921">
              <a:off x="205713" y="1199171"/>
              <a:ext cx="146649" cy="14664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12FC6C5B-5893-E313-E609-FF7FF0554712}"/>
                </a:ext>
              </a:extLst>
            </p:cNvPr>
            <p:cNvCxnSpPr>
              <a:cxnSpLocks/>
            </p:cNvCxnSpPr>
            <p:nvPr userDrawn="1"/>
          </p:nvCxnSpPr>
          <p:spPr>
            <a:xfrm flipV="1">
              <a:off x="279037" y="1324314"/>
              <a:ext cx="0" cy="4791817"/>
            </a:xfrm>
            <a:prstGeom prst="line">
              <a:avLst/>
            </a:prstGeom>
            <a:grpFill/>
            <a:ln>
              <a:solidFill>
                <a:srgbClr val="DAD7E2"/>
              </a:solidFill>
            </a:ln>
          </p:spPr>
          <p:style>
            <a:lnRef idx="2">
              <a:schemeClr val="accent1"/>
            </a:lnRef>
            <a:fillRef idx="0">
              <a:schemeClr val="accent1"/>
            </a:fillRef>
            <a:effectRef idx="1">
              <a:schemeClr val="accent1"/>
            </a:effectRef>
            <a:fontRef idx="minor">
              <a:schemeClr val="tx1"/>
            </a:fontRef>
          </p:style>
        </p:cxnSp>
      </p:grpSp>
      <p:sp>
        <p:nvSpPr>
          <p:cNvPr id="48" name="TextBox 47">
            <a:extLst>
              <a:ext uri="{FF2B5EF4-FFF2-40B4-BE49-F238E27FC236}">
                <a16:creationId xmlns:a16="http://schemas.microsoft.com/office/drawing/2014/main" id="{17ED2AE3-10D4-BAD2-8B94-F9C20E00FB71}"/>
              </a:ext>
            </a:extLst>
          </p:cNvPr>
          <p:cNvSpPr txBox="1"/>
          <p:nvPr userDrawn="1"/>
        </p:nvSpPr>
        <p:spPr>
          <a:xfrm>
            <a:off x="8541182" y="1367446"/>
            <a:ext cx="2235199" cy="338554"/>
          </a:xfrm>
          <a:prstGeom prst="rect">
            <a:avLst/>
          </a:prstGeom>
          <a:noFill/>
        </p:spPr>
        <p:txBody>
          <a:bodyPr wrap="square" rtlCol="0">
            <a:spAutoFit/>
          </a:bodyPr>
          <a:lstStyle/>
          <a:p>
            <a:r>
              <a:rPr lang="en-US" sz="16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Resources</a:t>
            </a:r>
          </a:p>
        </p:txBody>
      </p:sp>
      <p:grpSp>
        <p:nvGrpSpPr>
          <p:cNvPr id="49" name="Group 48">
            <a:extLst>
              <a:ext uri="{FF2B5EF4-FFF2-40B4-BE49-F238E27FC236}">
                <a16:creationId xmlns:a16="http://schemas.microsoft.com/office/drawing/2014/main" id="{8AE7DC4D-31FA-1005-6C33-E80AF674658E}"/>
              </a:ext>
            </a:extLst>
          </p:cNvPr>
          <p:cNvGrpSpPr/>
          <p:nvPr userDrawn="1"/>
        </p:nvGrpSpPr>
        <p:grpSpPr>
          <a:xfrm>
            <a:off x="8506793" y="3775597"/>
            <a:ext cx="146649" cy="2331910"/>
            <a:chOff x="205713" y="1199171"/>
            <a:chExt cx="146649" cy="2331910"/>
          </a:xfrm>
          <a:solidFill>
            <a:srgbClr val="D3B34E"/>
          </a:solidFill>
        </p:grpSpPr>
        <p:sp>
          <p:nvSpPr>
            <p:cNvPr id="50" name="Oval 49">
              <a:extLst>
                <a:ext uri="{FF2B5EF4-FFF2-40B4-BE49-F238E27FC236}">
                  <a16:creationId xmlns:a16="http://schemas.microsoft.com/office/drawing/2014/main" id="{9C0F7BC7-4EA7-3EA5-1482-41ED311EECC5}"/>
                </a:ext>
              </a:extLst>
            </p:cNvPr>
            <p:cNvSpPr/>
            <p:nvPr userDrawn="1"/>
          </p:nvSpPr>
          <p:spPr>
            <a:xfrm rot="18732921">
              <a:off x="205713" y="1199171"/>
              <a:ext cx="146649" cy="14664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828D6E7F-D1B0-1D69-8AE1-CB1F90FF907C}"/>
                </a:ext>
              </a:extLst>
            </p:cNvPr>
            <p:cNvCxnSpPr>
              <a:cxnSpLocks/>
            </p:cNvCxnSpPr>
            <p:nvPr userDrawn="1"/>
          </p:nvCxnSpPr>
          <p:spPr>
            <a:xfrm flipV="1">
              <a:off x="279037" y="1324314"/>
              <a:ext cx="0" cy="2206767"/>
            </a:xfrm>
            <a:prstGeom prst="line">
              <a:avLst/>
            </a:prstGeom>
            <a:grpFill/>
            <a:ln>
              <a:solidFill>
                <a:srgbClr val="D3B34E"/>
              </a:solidFill>
            </a:ln>
          </p:spPr>
          <p:style>
            <a:lnRef idx="2">
              <a:schemeClr val="accent1"/>
            </a:lnRef>
            <a:fillRef idx="0">
              <a:schemeClr val="accent1"/>
            </a:fillRef>
            <a:effectRef idx="1">
              <a:schemeClr val="accent1"/>
            </a:effectRef>
            <a:fontRef idx="minor">
              <a:schemeClr val="tx1"/>
            </a:fontRef>
          </p:style>
        </p:cxnSp>
      </p:grpSp>
      <p:sp>
        <p:nvSpPr>
          <p:cNvPr id="52" name="TextBox 51">
            <a:extLst>
              <a:ext uri="{FF2B5EF4-FFF2-40B4-BE49-F238E27FC236}">
                <a16:creationId xmlns:a16="http://schemas.microsoft.com/office/drawing/2014/main" id="{5D20E353-BF01-50F8-D445-A6F1E724119C}"/>
              </a:ext>
            </a:extLst>
          </p:cNvPr>
          <p:cNvSpPr txBox="1"/>
          <p:nvPr userDrawn="1"/>
        </p:nvSpPr>
        <p:spPr>
          <a:xfrm>
            <a:off x="8683692" y="3952496"/>
            <a:ext cx="2235199" cy="338554"/>
          </a:xfrm>
          <a:prstGeom prst="rect">
            <a:avLst/>
          </a:prstGeom>
          <a:noFill/>
        </p:spPr>
        <p:txBody>
          <a:bodyPr wrap="square" rtlCol="0">
            <a:spAutoFit/>
          </a:bodyPr>
          <a:lstStyle/>
          <a:p>
            <a:r>
              <a:rPr lang="en-US" sz="16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Team Members</a:t>
            </a:r>
          </a:p>
        </p:txBody>
      </p:sp>
    </p:spTree>
    <p:extLst>
      <p:ext uri="{BB962C8B-B14F-4D97-AF65-F5344CB8AC3E}">
        <p14:creationId xmlns:p14="http://schemas.microsoft.com/office/powerpoint/2010/main" val="25770328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Rectangle: Diagonal Corners Rounded 1">
            <a:extLst>
              <a:ext uri="{FF2B5EF4-FFF2-40B4-BE49-F238E27FC236}">
                <a16:creationId xmlns:a16="http://schemas.microsoft.com/office/drawing/2014/main" id="{5DD50243-78F2-AF1F-84AF-833E4A9FA722}"/>
              </a:ext>
            </a:extLst>
          </p:cNvPr>
          <p:cNvSpPr/>
          <p:nvPr userDrawn="1"/>
        </p:nvSpPr>
        <p:spPr>
          <a:xfrm>
            <a:off x="224288" y="1181818"/>
            <a:ext cx="5978104" cy="327804"/>
          </a:xfrm>
          <a:prstGeom prst="round2DiagRect">
            <a:avLst/>
          </a:prstGeom>
          <a:solidFill>
            <a:srgbClr val="00255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Open Sans Light" panose="020B0306030504020204" pitchFamily="34" charset="0"/>
                <a:ea typeface="Open Sans Light" panose="020B0306030504020204" pitchFamily="34" charset="0"/>
                <a:cs typeface="Open Sans Light" panose="020B0306030504020204" pitchFamily="34" charset="0"/>
              </a:rPr>
              <a:t>Vertical Problem</a:t>
            </a:r>
          </a:p>
        </p:txBody>
      </p:sp>
      <p:sp>
        <p:nvSpPr>
          <p:cNvPr id="4" name="Rectangle: Diagonal Corners Rounded 3">
            <a:extLst>
              <a:ext uri="{FF2B5EF4-FFF2-40B4-BE49-F238E27FC236}">
                <a16:creationId xmlns:a16="http://schemas.microsoft.com/office/drawing/2014/main" id="{97937C7C-D783-C27A-023F-775A1ACCA03C}"/>
              </a:ext>
            </a:extLst>
          </p:cNvPr>
          <p:cNvSpPr/>
          <p:nvPr userDrawn="1"/>
        </p:nvSpPr>
        <p:spPr>
          <a:xfrm>
            <a:off x="224288" y="3454879"/>
            <a:ext cx="5978104" cy="327804"/>
          </a:xfrm>
          <a:prstGeom prst="round2DiagRect">
            <a:avLst/>
          </a:prstGeom>
          <a:solidFill>
            <a:srgbClr val="00255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Open Sans Light" panose="020B0306030504020204" pitchFamily="34" charset="0"/>
                <a:ea typeface="Open Sans Light" panose="020B0306030504020204" pitchFamily="34" charset="0"/>
                <a:cs typeface="Open Sans Light" panose="020B0306030504020204" pitchFamily="34" charset="0"/>
              </a:rPr>
              <a:t>Proposed Solution</a:t>
            </a:r>
          </a:p>
        </p:txBody>
      </p:sp>
      <p:grpSp>
        <p:nvGrpSpPr>
          <p:cNvPr id="37" name="Group 36">
            <a:extLst>
              <a:ext uri="{FF2B5EF4-FFF2-40B4-BE49-F238E27FC236}">
                <a16:creationId xmlns:a16="http://schemas.microsoft.com/office/drawing/2014/main" id="{2C87DD0F-E508-FCE9-AA03-1FFCE75F817C}"/>
              </a:ext>
            </a:extLst>
          </p:cNvPr>
          <p:cNvGrpSpPr/>
          <p:nvPr userDrawn="1"/>
        </p:nvGrpSpPr>
        <p:grpSpPr>
          <a:xfrm>
            <a:off x="6337540" y="4753155"/>
            <a:ext cx="5630171" cy="1204822"/>
            <a:chOff x="6337540" y="4753155"/>
            <a:chExt cx="5630171" cy="1204822"/>
          </a:xfrm>
        </p:grpSpPr>
        <p:sp>
          <p:nvSpPr>
            <p:cNvPr id="27" name="Rectangle: Diagonal Corners Rounded 26">
              <a:extLst>
                <a:ext uri="{FF2B5EF4-FFF2-40B4-BE49-F238E27FC236}">
                  <a16:creationId xmlns:a16="http://schemas.microsoft.com/office/drawing/2014/main" id="{CDBF56B3-2C98-B8A9-B93D-D3AD3697330F}"/>
                </a:ext>
              </a:extLst>
            </p:cNvPr>
            <p:cNvSpPr/>
            <p:nvPr userDrawn="1"/>
          </p:nvSpPr>
          <p:spPr>
            <a:xfrm>
              <a:off x="6337540" y="4753155"/>
              <a:ext cx="5630171" cy="1204822"/>
            </a:xfrm>
            <a:prstGeom prst="round2DiagRect">
              <a:avLst/>
            </a:prstGeom>
            <a:solidFill>
              <a:srgbClr val="B8E7F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1600">
                <a:solidFill>
                  <a:sysClr val="windowText" lastClr="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0" name="TextBox 29">
              <a:extLst>
                <a:ext uri="{FF2B5EF4-FFF2-40B4-BE49-F238E27FC236}">
                  <a16:creationId xmlns:a16="http://schemas.microsoft.com/office/drawing/2014/main" id="{91D4010A-DA47-382F-CCB7-0A1F3B097B30}"/>
                </a:ext>
              </a:extLst>
            </p:cNvPr>
            <p:cNvSpPr txBox="1"/>
            <p:nvPr userDrawn="1"/>
          </p:nvSpPr>
          <p:spPr>
            <a:xfrm>
              <a:off x="7383491" y="4753155"/>
              <a:ext cx="3538268" cy="338554"/>
            </a:xfrm>
            <a:prstGeom prst="rect">
              <a:avLst/>
            </a:prstGeom>
            <a:noFill/>
          </p:spPr>
          <p:txBody>
            <a:bodyPr wrap="square">
              <a:spAutoFit/>
            </a:bodyPr>
            <a:lstStyle/>
            <a:p>
              <a:pPr algn="ctr"/>
              <a:r>
                <a:rPr lang="en-US" sz="1600" b="1">
                  <a:solidFill>
                    <a:sysClr val="windowText" lastClr="000000"/>
                  </a:solidFill>
                  <a:latin typeface="Open Sans Light" panose="020B0306030504020204" pitchFamily="34" charset="0"/>
                  <a:ea typeface="Open Sans Light" panose="020B0306030504020204" pitchFamily="34" charset="0"/>
                  <a:cs typeface="Open Sans Light" panose="020B0306030504020204" pitchFamily="34" charset="0"/>
                </a:rPr>
                <a:t>Team Members</a:t>
              </a:r>
            </a:p>
          </p:txBody>
        </p:sp>
      </p:grpSp>
      <p:grpSp>
        <p:nvGrpSpPr>
          <p:cNvPr id="36" name="Group 35">
            <a:extLst>
              <a:ext uri="{FF2B5EF4-FFF2-40B4-BE49-F238E27FC236}">
                <a16:creationId xmlns:a16="http://schemas.microsoft.com/office/drawing/2014/main" id="{78F7D552-B791-8B34-4533-68B74A7DF57D}"/>
              </a:ext>
            </a:extLst>
          </p:cNvPr>
          <p:cNvGrpSpPr/>
          <p:nvPr userDrawn="1"/>
        </p:nvGrpSpPr>
        <p:grpSpPr>
          <a:xfrm>
            <a:off x="6337540" y="3412091"/>
            <a:ext cx="5630171" cy="1204822"/>
            <a:chOff x="6337540" y="3428250"/>
            <a:chExt cx="5630171" cy="1204822"/>
          </a:xfrm>
        </p:grpSpPr>
        <p:sp>
          <p:nvSpPr>
            <p:cNvPr id="24" name="Rectangle: Diagonal Corners Rounded 23">
              <a:extLst>
                <a:ext uri="{FF2B5EF4-FFF2-40B4-BE49-F238E27FC236}">
                  <a16:creationId xmlns:a16="http://schemas.microsoft.com/office/drawing/2014/main" id="{99A9A026-5FC6-23F7-34F4-04F7B3F749CC}"/>
                </a:ext>
              </a:extLst>
            </p:cNvPr>
            <p:cNvSpPr/>
            <p:nvPr userDrawn="1"/>
          </p:nvSpPr>
          <p:spPr>
            <a:xfrm>
              <a:off x="6337540" y="3428250"/>
              <a:ext cx="5630171" cy="1204822"/>
            </a:xfrm>
            <a:prstGeom prst="round2DiagRect">
              <a:avLst/>
            </a:prstGeom>
            <a:solidFill>
              <a:srgbClr val="99C7D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1600">
                <a:solidFill>
                  <a:sysClr val="windowText" lastClr="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2" name="TextBox 31">
              <a:extLst>
                <a:ext uri="{FF2B5EF4-FFF2-40B4-BE49-F238E27FC236}">
                  <a16:creationId xmlns:a16="http://schemas.microsoft.com/office/drawing/2014/main" id="{E96E17FD-DDA5-2925-2125-520719D3C1D3}"/>
                </a:ext>
              </a:extLst>
            </p:cNvPr>
            <p:cNvSpPr txBox="1"/>
            <p:nvPr userDrawn="1"/>
          </p:nvSpPr>
          <p:spPr>
            <a:xfrm>
              <a:off x="7383491" y="3428250"/>
              <a:ext cx="3538268" cy="338554"/>
            </a:xfrm>
            <a:prstGeom prst="rect">
              <a:avLst/>
            </a:prstGeom>
            <a:noFill/>
          </p:spPr>
          <p:txBody>
            <a:bodyPr wrap="square">
              <a:spAutoFit/>
            </a:bodyPr>
            <a:lstStyle/>
            <a:p>
              <a:pPr algn="ctr"/>
              <a:r>
                <a:rPr lang="en-US" sz="1600" b="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Resources</a:t>
              </a:r>
            </a:p>
          </p:txBody>
        </p:sp>
      </p:grpSp>
      <p:grpSp>
        <p:nvGrpSpPr>
          <p:cNvPr id="35" name="Group 34">
            <a:extLst>
              <a:ext uri="{FF2B5EF4-FFF2-40B4-BE49-F238E27FC236}">
                <a16:creationId xmlns:a16="http://schemas.microsoft.com/office/drawing/2014/main" id="{A8B4B1E5-99AB-460D-6F0E-585162F395E9}"/>
              </a:ext>
            </a:extLst>
          </p:cNvPr>
          <p:cNvGrpSpPr/>
          <p:nvPr userDrawn="1"/>
        </p:nvGrpSpPr>
        <p:grpSpPr>
          <a:xfrm>
            <a:off x="6337541" y="1181818"/>
            <a:ext cx="5630171" cy="2094032"/>
            <a:chOff x="6337541" y="1181818"/>
            <a:chExt cx="5630171" cy="2094032"/>
          </a:xfrm>
        </p:grpSpPr>
        <p:sp>
          <p:nvSpPr>
            <p:cNvPr id="6" name="Rectangle: Diagonal Corners Rounded 5">
              <a:extLst>
                <a:ext uri="{FF2B5EF4-FFF2-40B4-BE49-F238E27FC236}">
                  <a16:creationId xmlns:a16="http://schemas.microsoft.com/office/drawing/2014/main" id="{FA5EE5A8-1295-03E5-8821-7897E57552F0}"/>
                </a:ext>
              </a:extLst>
            </p:cNvPr>
            <p:cNvSpPr/>
            <p:nvPr userDrawn="1"/>
          </p:nvSpPr>
          <p:spPr>
            <a:xfrm>
              <a:off x="6337541" y="1181818"/>
              <a:ext cx="5630171" cy="2094032"/>
            </a:xfrm>
            <a:prstGeom prst="round2DiagRect">
              <a:avLst/>
            </a:prstGeom>
            <a:solidFill>
              <a:srgbClr val="4477A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1600">
                <a:solidFill>
                  <a:sysClr val="windowText" lastClr="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4" name="TextBox 33">
              <a:extLst>
                <a:ext uri="{FF2B5EF4-FFF2-40B4-BE49-F238E27FC236}">
                  <a16:creationId xmlns:a16="http://schemas.microsoft.com/office/drawing/2014/main" id="{1C8FE769-7AA6-55D4-5CC5-32A5BE38BC6F}"/>
                </a:ext>
              </a:extLst>
            </p:cNvPr>
            <p:cNvSpPr txBox="1"/>
            <p:nvPr userDrawn="1"/>
          </p:nvSpPr>
          <p:spPr>
            <a:xfrm>
              <a:off x="7383492" y="1181818"/>
              <a:ext cx="3538268" cy="338554"/>
            </a:xfrm>
            <a:prstGeom prst="rect">
              <a:avLst/>
            </a:prstGeom>
            <a:noFill/>
          </p:spPr>
          <p:txBody>
            <a:bodyPr wrap="square">
              <a:spAutoFit/>
            </a:bodyPr>
            <a:lstStyle/>
            <a:p>
              <a:pPr algn="ctr"/>
              <a:r>
                <a:rPr lang="en-US" sz="1600" b="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Next Steps</a:t>
              </a:r>
            </a:p>
          </p:txBody>
        </p:sp>
      </p:grpSp>
    </p:spTree>
    <p:extLst>
      <p:ext uri="{BB962C8B-B14F-4D97-AF65-F5344CB8AC3E}">
        <p14:creationId xmlns:p14="http://schemas.microsoft.com/office/powerpoint/2010/main" val="3664901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58781-A944-9746-223C-938B2E6895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B987CF-1907-5F47-3733-62F661E6C7FD}"/>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BD8E84-15E6-2780-3D3A-4432F859AF53}"/>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3A75-B000-3A79-85AB-3AF178EA84F3}"/>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6" name="Footer Placeholder 5">
            <a:extLst>
              <a:ext uri="{FF2B5EF4-FFF2-40B4-BE49-F238E27FC236}">
                <a16:creationId xmlns:a16="http://schemas.microsoft.com/office/drawing/2014/main" id="{DF5E350C-BC3E-C6D8-4C07-D49C51A13F7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65DAF7AD-F715-ED84-8F33-2A69D546A6E6}"/>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1778972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B5E2B-B0C8-B67D-21A2-524BB80E89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79F91D-F3E7-C8E0-8D29-1F0F768DA6D0}"/>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EF08B4-1365-41C1-9671-9886F7D8FFFC}"/>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5E48D8-E30A-E7E5-1EAC-77356123DDB9}"/>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A91E9-5202-2C8D-5F9D-31203CF4882D}"/>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EA71F1-5E02-6EC5-A903-99BAF9042DF8}"/>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8" name="Footer Placeholder 7">
            <a:extLst>
              <a:ext uri="{FF2B5EF4-FFF2-40B4-BE49-F238E27FC236}">
                <a16:creationId xmlns:a16="http://schemas.microsoft.com/office/drawing/2014/main" id="{7B9A865A-5105-434D-6661-DEC86647059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C2A88F92-E6C2-F5C2-BF5A-6B4FF464AB3A}"/>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7653917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19996-8C88-F1DB-4350-271986D529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FFF8E0-42AC-0FD1-8F7A-B2F12DC9D03B}"/>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4" name="Footer Placeholder 3">
            <a:extLst>
              <a:ext uri="{FF2B5EF4-FFF2-40B4-BE49-F238E27FC236}">
                <a16:creationId xmlns:a16="http://schemas.microsoft.com/office/drawing/2014/main" id="{989661D3-29D7-3E8E-8642-22DCC3975A6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5996E415-CA33-D02A-FBF7-BBB3C10A7B09}"/>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10122386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9EE970-8E01-BD2D-08F2-E42735C3D35A}"/>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3" name="Footer Placeholder 2">
            <a:extLst>
              <a:ext uri="{FF2B5EF4-FFF2-40B4-BE49-F238E27FC236}">
                <a16:creationId xmlns:a16="http://schemas.microsoft.com/office/drawing/2014/main" id="{B6C95AAF-D088-CE62-E826-D1F7DFF32D5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78A788E-48D8-1B37-3358-9C9E3CBAE1C9}"/>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7355925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A99D0-87D5-7B65-8141-10CD8D6B39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851DB8-3668-EB9B-A630-79F096534A79}"/>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271274-EF00-E436-0653-59875A2C5DA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47FC6D-14F7-AA22-B589-0D7358391464}"/>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6" name="Footer Placeholder 5">
            <a:extLst>
              <a:ext uri="{FF2B5EF4-FFF2-40B4-BE49-F238E27FC236}">
                <a16:creationId xmlns:a16="http://schemas.microsoft.com/office/drawing/2014/main" id="{6F98C6F0-9A92-78E3-748F-3AC97E2A9AA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73DE5CE-503A-641C-5333-C2F1D04E2E0C}"/>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1578676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A5F96-A683-3014-5E16-7E39108366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9F4F3E-34AA-F2FB-60E8-918166F5FD9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3B89F5-6769-7B29-6A8D-F8D2151D4AAE}"/>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A79A1C-C882-CF2E-0959-22FBDCB462AF}"/>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6" name="Footer Placeholder 5">
            <a:extLst>
              <a:ext uri="{FF2B5EF4-FFF2-40B4-BE49-F238E27FC236}">
                <a16:creationId xmlns:a16="http://schemas.microsoft.com/office/drawing/2014/main" id="{72B8364D-649B-F4E8-D75F-EB252194EE4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306D601-B500-6910-9CF6-A0B66248D578}"/>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5638654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58B5B-77DB-EB6B-BEEC-301C768DF3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00ABF1-6980-4729-1BBB-67EEDA7916DF}"/>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F608AC-9C99-C9E2-F058-0A69D0BC463A}"/>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5" name="Footer Placeholder 4">
            <a:extLst>
              <a:ext uri="{FF2B5EF4-FFF2-40B4-BE49-F238E27FC236}">
                <a16:creationId xmlns:a16="http://schemas.microsoft.com/office/drawing/2014/main" id="{D5F60B51-25D7-1525-BDC8-E53C37125D1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86FC550-8ACB-BD09-6703-A69D2214920C}"/>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27780094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163C74-9576-8D01-4214-6BC707616B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0513CF-DFC6-9324-B8BC-D5A84889505C}"/>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DF2CA8-6E39-3897-CB06-0FE878C78CA6}"/>
              </a:ext>
            </a:extLst>
          </p:cNvPr>
          <p:cNvSpPr>
            <a:spLocks noGrp="1"/>
          </p:cNvSpPr>
          <p:nvPr>
            <p:ph type="dt" sz="half" idx="10"/>
          </p:nvPr>
        </p:nvSpPr>
        <p:spPr>
          <a:xfrm>
            <a:off x="838200" y="6356350"/>
            <a:ext cx="2743200" cy="365125"/>
          </a:xfrm>
          <a:prstGeom prst="rect">
            <a:avLst/>
          </a:prstGeom>
        </p:spPr>
        <p:txBody>
          <a:bodyPr/>
          <a:lstStyle/>
          <a:p>
            <a:fld id="{B27AA48B-0C77-4AE6-A409-D6A77725F201}" type="datetimeFigureOut">
              <a:rPr lang="en-US" smtClean="0"/>
              <a:t>10/16/2026</a:t>
            </a:fld>
            <a:endParaRPr lang="en-US"/>
          </a:p>
        </p:txBody>
      </p:sp>
      <p:sp>
        <p:nvSpPr>
          <p:cNvPr id="5" name="Footer Placeholder 4">
            <a:extLst>
              <a:ext uri="{FF2B5EF4-FFF2-40B4-BE49-F238E27FC236}">
                <a16:creationId xmlns:a16="http://schemas.microsoft.com/office/drawing/2014/main" id="{CCBB26BB-49F5-91FB-01DF-86794253843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4AD7591-2736-E34B-4A63-E3F527B3A3A9}"/>
              </a:ext>
            </a:extLst>
          </p:cNvPr>
          <p:cNvSpPr>
            <a:spLocks noGrp="1"/>
          </p:cNvSpPr>
          <p:nvPr>
            <p:ph type="sldNum" sz="quarter" idx="12"/>
          </p:nvPr>
        </p:nvSpPr>
        <p:spPr>
          <a:xfrm>
            <a:off x="8610600" y="6356350"/>
            <a:ext cx="2743200" cy="365125"/>
          </a:xfrm>
          <a:prstGeom prst="rect">
            <a:avLst/>
          </a:prstGeom>
        </p:spPr>
        <p:txBody>
          <a:bodyPr/>
          <a:lstStyle/>
          <a:p>
            <a:fld id="{8F335DFE-AA63-4698-9324-90565567EAF8}" type="slidenum">
              <a:rPr lang="en-US" smtClean="0"/>
              <a:t>‹#›</a:t>
            </a:fld>
            <a:endParaRPr lang="en-US"/>
          </a:p>
        </p:txBody>
      </p:sp>
    </p:spTree>
    <p:extLst>
      <p:ext uri="{BB962C8B-B14F-4D97-AF65-F5344CB8AC3E}">
        <p14:creationId xmlns:p14="http://schemas.microsoft.com/office/powerpoint/2010/main" val="3344666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image" Target="../media/image2.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2.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4E3ED84-A1A8-3C22-FE34-FF69004775D4}"/>
              </a:ext>
            </a:extLst>
          </p:cNvPr>
          <p:cNvSpPr/>
          <p:nvPr userDrawn="1"/>
        </p:nvSpPr>
        <p:spPr>
          <a:xfrm>
            <a:off x="0" y="-3"/>
            <a:ext cx="12192000" cy="997530"/>
          </a:xfrm>
          <a:prstGeom prst="rect">
            <a:avLst/>
          </a:prstGeom>
          <a:solidFill>
            <a:srgbClr val="0056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692F345-ED09-4FB0-2DD2-D8F6B9C567BC}"/>
              </a:ext>
            </a:extLst>
          </p:cNvPr>
          <p:cNvSpPr>
            <a:spLocks noGrp="1"/>
          </p:cNvSpPr>
          <p:nvPr>
            <p:ph type="title"/>
          </p:nvPr>
        </p:nvSpPr>
        <p:spPr>
          <a:xfrm>
            <a:off x="838200" y="168707"/>
            <a:ext cx="10515600" cy="660111"/>
          </a:xfrm>
          <a:prstGeom prst="rect">
            <a:avLst/>
          </a:prstGeom>
        </p:spPr>
        <p:txBody>
          <a:bodyPr vert="horz" lIns="91440" tIns="45720" rIns="91440" bIns="45720" rtlCol="0" anchor="ctr">
            <a:normAutofit/>
          </a:bodyPr>
          <a:lstStyle/>
          <a:p>
            <a:r>
              <a:rPr lang="en-US"/>
              <a:t>Click to edit Master title style</a:t>
            </a:r>
          </a:p>
        </p:txBody>
      </p:sp>
      <p:sp>
        <p:nvSpPr>
          <p:cNvPr id="8" name="Rectangle 7">
            <a:extLst>
              <a:ext uri="{FF2B5EF4-FFF2-40B4-BE49-F238E27FC236}">
                <a16:creationId xmlns:a16="http://schemas.microsoft.com/office/drawing/2014/main" id="{388A5429-E5C4-AEB1-11DC-C0F306205629}"/>
              </a:ext>
            </a:extLst>
          </p:cNvPr>
          <p:cNvSpPr/>
          <p:nvPr userDrawn="1"/>
        </p:nvSpPr>
        <p:spPr>
          <a:xfrm>
            <a:off x="0" y="6108491"/>
            <a:ext cx="12192000" cy="749509"/>
          </a:xfrm>
          <a:prstGeom prst="rect">
            <a:avLst/>
          </a:prstGeom>
          <a:gradFill flip="none" rotWithShape="1">
            <a:gsLst>
              <a:gs pos="0">
                <a:srgbClr val="003B88"/>
              </a:gs>
              <a:gs pos="100000">
                <a:srgbClr val="85ACD5"/>
              </a:gs>
              <a:gs pos="99000">
                <a:srgbClr val="85ACD5"/>
              </a:gs>
              <a:gs pos="100000">
                <a:srgbClr val="85ACD5"/>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5807B26-406A-1152-2CF1-9F5083FD2A3B}"/>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49357" y="6098366"/>
            <a:ext cx="2723239" cy="769757"/>
          </a:xfrm>
          <a:prstGeom prst="rect">
            <a:avLst/>
          </a:prstGeom>
        </p:spPr>
      </p:pic>
    </p:spTree>
    <p:extLst>
      <p:ext uri="{BB962C8B-B14F-4D97-AF65-F5344CB8AC3E}">
        <p14:creationId xmlns:p14="http://schemas.microsoft.com/office/powerpoint/2010/main" val="35428960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1" r:id="rId4"/>
    <p:sldLayoutId id="2147483652" r:id="rId5"/>
    <p:sldLayoutId id="2147483684"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3200" kern="120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4E3ED84-A1A8-3C22-FE34-FF69004775D4}"/>
              </a:ext>
            </a:extLst>
          </p:cNvPr>
          <p:cNvSpPr/>
          <p:nvPr userDrawn="1"/>
        </p:nvSpPr>
        <p:spPr>
          <a:xfrm>
            <a:off x="0" y="-3"/>
            <a:ext cx="12192000" cy="997530"/>
          </a:xfrm>
          <a:prstGeom prst="rect">
            <a:avLst/>
          </a:prstGeom>
          <a:solidFill>
            <a:srgbClr val="0056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692F345-ED09-4FB0-2DD2-D8F6B9C567BC}"/>
              </a:ext>
            </a:extLst>
          </p:cNvPr>
          <p:cNvSpPr>
            <a:spLocks noGrp="1"/>
          </p:cNvSpPr>
          <p:nvPr>
            <p:ph type="title"/>
          </p:nvPr>
        </p:nvSpPr>
        <p:spPr>
          <a:xfrm>
            <a:off x="838200" y="168707"/>
            <a:ext cx="10515600" cy="660111"/>
          </a:xfrm>
          <a:prstGeom prst="rect">
            <a:avLst/>
          </a:prstGeom>
        </p:spPr>
        <p:txBody>
          <a:bodyPr vert="horz" lIns="91440" tIns="45720" rIns="91440" bIns="45720" rtlCol="0" anchor="ctr">
            <a:normAutofit/>
          </a:bodyPr>
          <a:lstStyle/>
          <a:p>
            <a:r>
              <a:rPr lang="en-US"/>
              <a:t>Click to edit Master title style</a:t>
            </a:r>
          </a:p>
        </p:txBody>
      </p:sp>
      <p:sp>
        <p:nvSpPr>
          <p:cNvPr id="8" name="Rectangle 7">
            <a:extLst>
              <a:ext uri="{FF2B5EF4-FFF2-40B4-BE49-F238E27FC236}">
                <a16:creationId xmlns:a16="http://schemas.microsoft.com/office/drawing/2014/main" id="{388A5429-E5C4-AEB1-11DC-C0F306205629}"/>
              </a:ext>
            </a:extLst>
          </p:cNvPr>
          <p:cNvSpPr/>
          <p:nvPr userDrawn="1"/>
        </p:nvSpPr>
        <p:spPr>
          <a:xfrm>
            <a:off x="0" y="6108491"/>
            <a:ext cx="12192000" cy="749509"/>
          </a:xfrm>
          <a:prstGeom prst="rect">
            <a:avLst/>
          </a:prstGeom>
          <a:gradFill flip="none" rotWithShape="1">
            <a:gsLst>
              <a:gs pos="0">
                <a:srgbClr val="003B88"/>
              </a:gs>
              <a:gs pos="100000">
                <a:srgbClr val="85ACD5"/>
              </a:gs>
              <a:gs pos="99000">
                <a:srgbClr val="85ACD5"/>
              </a:gs>
              <a:gs pos="100000">
                <a:srgbClr val="85ACD5"/>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493E5AB-2FF5-2ED8-C166-92D1203ED20D}"/>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07856" y="6108490"/>
            <a:ext cx="1510911" cy="749510"/>
          </a:xfrm>
          <a:prstGeom prst="rect">
            <a:avLst/>
          </a:prstGeom>
        </p:spPr>
      </p:pic>
    </p:spTree>
    <p:extLst>
      <p:ext uri="{BB962C8B-B14F-4D97-AF65-F5344CB8AC3E}">
        <p14:creationId xmlns:p14="http://schemas.microsoft.com/office/powerpoint/2010/main" val="44131180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Lst>
  <p:txStyles>
    <p:titleStyle>
      <a:lvl1pPr algn="l" defTabSz="914400" rtl="0" eaLnBrk="1" latinLnBrk="0" hangingPunct="1">
        <a:lnSpc>
          <a:spcPct val="90000"/>
        </a:lnSpc>
        <a:spcBef>
          <a:spcPct val="0"/>
        </a:spcBef>
        <a:buNone/>
        <a:defRPr sz="3200" kern="120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1_BCF51EB3.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D43355-8108-A80E-7F21-0E501C31BD02}"/>
              </a:ext>
            </a:extLst>
          </p:cNvPr>
          <p:cNvSpPr txBox="1">
            <a:spLocks noGrp="1" noRot="1" noMove="1" noResize="1" noEditPoints="1" noAdjustHandles="1" noChangeArrowheads="1" noChangeShapeType="1"/>
          </p:cNvSpPr>
          <p:nvPr/>
        </p:nvSpPr>
        <p:spPr>
          <a:xfrm>
            <a:off x="1536192" y="1235364"/>
            <a:ext cx="6547104" cy="923330"/>
          </a:xfrm>
          <a:prstGeom prst="rect">
            <a:avLst/>
          </a:prstGeom>
          <a:noFill/>
        </p:spPr>
        <p:txBody>
          <a:bodyPr wrap="square" rtlCol="0">
            <a:spAutoFit/>
          </a:bodyPr>
          <a:lstStyle/>
          <a:p>
            <a:r>
              <a:rPr lang="en-US" sz="1200" dirty="0">
                <a:latin typeface="Open Sans Light" panose="020B0306030504020204" pitchFamily="34" charset="0"/>
                <a:ea typeface="Open Sans Light" panose="020B0306030504020204" pitchFamily="34" charset="0"/>
                <a:cs typeface="Open Sans Light" panose="020B0306030504020204" pitchFamily="34" charset="0"/>
              </a:rPr>
              <a:t>The RF power amplifier is the largest energy consumer at the remote radio head. Moving next-G networks into FR3 (7–24 GHz) makes this worse: the band is shared with radar and satellite systems, so transmitters must be highly linear, while today's SDR radio units need extra frequency conversion and draw tens of watts before amplification.</a:t>
            </a:r>
          </a:p>
        </p:txBody>
      </p:sp>
      <p:sp>
        <p:nvSpPr>
          <p:cNvPr id="5" name="TextBox 4">
            <a:extLst>
              <a:ext uri="{FF2B5EF4-FFF2-40B4-BE49-F238E27FC236}">
                <a16:creationId xmlns:a16="http://schemas.microsoft.com/office/drawing/2014/main" id="{AE6B26A8-F855-D250-7450-53C4BDC25CC4}"/>
              </a:ext>
            </a:extLst>
          </p:cNvPr>
          <p:cNvSpPr txBox="1">
            <a:spLocks noGrp="1" noRot="1" noMove="1" noResize="1" noEditPoints="1" noAdjustHandles="1" noChangeArrowheads="1" noChangeShapeType="1"/>
          </p:cNvSpPr>
          <p:nvPr/>
        </p:nvSpPr>
        <p:spPr>
          <a:xfrm>
            <a:off x="379707" y="2779222"/>
            <a:ext cx="4466613" cy="707886"/>
          </a:xfrm>
          <a:prstGeom prst="rect">
            <a:avLst/>
          </a:prstGeom>
          <a:noFill/>
        </p:spPr>
        <p:txBody>
          <a:bodyPr wrap="square" rtlCol="0">
            <a:spAutoFit/>
          </a:bodyPr>
          <a:lstStyle/>
          <a:p>
            <a:r>
              <a:rPr lang="en-US" sz="1200" b="1" dirty="0">
                <a:latin typeface="Open Sans Light" panose="020B0306030504020204" pitchFamily="34" charset="0"/>
                <a:ea typeface="Open Sans Light" panose="020B0306030504020204" pitchFamily="34" charset="0"/>
                <a:cs typeface="Open Sans Light" panose="020B0306030504020204" pitchFamily="34" charset="0"/>
              </a:rPr>
              <a:t>A2 · Energy Efficiency: </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Co-integrate multiband CMOS RF-DACs with wideband GaN PAs, driven straight from the optical fronthaul with no lossy up-conversion; target ≥ 25% efficiency at the radio head.</a:t>
            </a:r>
          </a:p>
        </p:txBody>
      </p:sp>
      <p:sp>
        <p:nvSpPr>
          <p:cNvPr id="7" name="TextBox 6">
            <a:extLst>
              <a:ext uri="{FF2B5EF4-FFF2-40B4-BE49-F238E27FC236}">
                <a16:creationId xmlns:a16="http://schemas.microsoft.com/office/drawing/2014/main" id="{DDAD6F4A-EC44-0844-54B8-1BF0B6A2EE25}"/>
              </a:ext>
            </a:extLst>
          </p:cNvPr>
          <p:cNvSpPr txBox="1">
            <a:spLocks noGrp="1" noRot="1" noMove="1" noResize="1" noEditPoints="1" noAdjustHandles="1" noChangeArrowheads="1" noChangeShapeType="1"/>
          </p:cNvSpPr>
          <p:nvPr/>
        </p:nvSpPr>
        <p:spPr>
          <a:xfrm>
            <a:off x="379707" y="3934755"/>
            <a:ext cx="4466613" cy="646331"/>
          </a:xfrm>
          <a:prstGeom prst="rect">
            <a:avLst/>
          </a:prstGeom>
          <a:noFill/>
        </p:spPr>
        <p:txBody>
          <a:bodyPr wrap="square" rtlCol="0">
            <a:spAutoFit/>
          </a:bodyPr>
          <a:lstStyle/>
          <a:p>
            <a:r>
              <a:rPr lang="en-US" sz="1200" b="1" dirty="0">
                <a:latin typeface="Open Sans Light" panose="020B0306030504020204" pitchFamily="34" charset="0"/>
                <a:ea typeface="Open Sans Light" panose="020B0306030504020204" pitchFamily="34" charset="0"/>
                <a:cs typeface="Open Sans Light" panose="020B0306030504020204" pitchFamily="34" charset="0"/>
              </a:rPr>
              <a:t>B1 · AI-Native Design: </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An FPGA neuromorphic engine (echo-state reservoir computing with federated learning) calibrates and linearizes the transmitter online; AI/ML also synthesizes the PA combiners.</a:t>
            </a:r>
          </a:p>
        </p:txBody>
      </p:sp>
      <p:sp>
        <p:nvSpPr>
          <p:cNvPr id="9" name="TextBox 8">
            <a:extLst>
              <a:ext uri="{FF2B5EF4-FFF2-40B4-BE49-F238E27FC236}">
                <a16:creationId xmlns:a16="http://schemas.microsoft.com/office/drawing/2014/main" id="{B166C461-40C8-803E-AFDC-3725C1DD2529}"/>
              </a:ext>
            </a:extLst>
          </p:cNvPr>
          <p:cNvSpPr txBox="1">
            <a:spLocks noGrp="1" noRot="1" noMove="1" noResize="1" noEditPoints="1" noAdjustHandles="1" noChangeArrowheads="1" noChangeShapeType="1"/>
          </p:cNvSpPr>
          <p:nvPr/>
        </p:nvSpPr>
        <p:spPr>
          <a:xfrm>
            <a:off x="379707" y="5047614"/>
            <a:ext cx="4366029" cy="677108"/>
          </a:xfrm>
          <a:prstGeom prst="rect">
            <a:avLst/>
          </a:prstGeom>
          <a:noFill/>
        </p:spPr>
        <p:txBody>
          <a:bodyPr wrap="square" rtlCol="0">
            <a:spAutoFit/>
          </a:bodyPr>
          <a:lstStyle/>
          <a:p>
            <a:r>
              <a:rPr lang="en-US" sz="1200" dirty="0">
                <a:latin typeface="Open Sans Light" panose="020B0306030504020204" pitchFamily="34" charset="0"/>
                <a:ea typeface="Open Sans Light" panose="020B0306030504020204" pitchFamily="34" charset="0"/>
                <a:cs typeface="Open Sans Light" panose="020B0306030504020204" pitchFamily="34" charset="0"/>
              </a:rPr>
              <a:t>The learning engine at the distributed unit tunes the clocks, RF-DAC and GaN PA over the same fiber that carries the data, so efficiency and linearity are optimized together, in real time.</a:t>
            </a:r>
          </a:p>
        </p:txBody>
      </p:sp>
      <p:sp>
        <p:nvSpPr>
          <p:cNvPr id="11" name="TextBox 10">
            <a:extLst>
              <a:ext uri="{FF2B5EF4-FFF2-40B4-BE49-F238E27FC236}">
                <a16:creationId xmlns:a16="http://schemas.microsoft.com/office/drawing/2014/main" id="{512AD8CC-01F6-3EE1-BA20-278356559B09}"/>
              </a:ext>
            </a:extLst>
          </p:cNvPr>
          <p:cNvSpPr txBox="1">
            <a:spLocks noGrp="1" noRot="1" noMove="1" noResize="1" noEditPoints="1" noAdjustHandles="1" noChangeArrowheads="1" noChangeShapeType="1"/>
          </p:cNvSpPr>
          <p:nvPr/>
        </p:nvSpPr>
        <p:spPr>
          <a:xfrm>
            <a:off x="5101208" y="4365931"/>
            <a:ext cx="4366028" cy="1384995"/>
          </a:xfrm>
          <a:prstGeom prst="rect">
            <a:avLst/>
          </a:prstGeom>
          <a:noFill/>
        </p:spPr>
        <p:txBody>
          <a:bodyPr wrap="square" lIns="91440" tIns="45720" rIns="91440" bIns="45720" rtlCol="0" anchor="t">
            <a:spAutoFit/>
          </a:bodyPr>
          <a:lstStyle/>
          <a:p>
            <a:r>
              <a:rPr lang="en-US" sz="1200" b="1" dirty="0">
                <a:latin typeface="Open Sans Light"/>
                <a:ea typeface="Open Sans Light"/>
                <a:cs typeface="Open Sans Light"/>
              </a:rPr>
              <a:t>T1 </a:t>
            </a:r>
            <a:r>
              <a:rPr lang="en-US" sz="1200" dirty="0">
                <a:latin typeface="Open Sans Light"/>
                <a:ea typeface="Open Sans Light"/>
                <a:cs typeface="Open Sans Light"/>
              </a:rPr>
              <a:t>Neuromorphic ML engine on RFSoC (Liu, Yi · VT)</a:t>
            </a:r>
          </a:p>
          <a:p>
            <a:r>
              <a:rPr lang="en-US" sz="1200" b="1" dirty="0">
                <a:latin typeface="Open Sans Light"/>
                <a:ea typeface="Open Sans Light"/>
                <a:cs typeface="Open Sans Light"/>
              </a:rPr>
              <a:t>T2 </a:t>
            </a:r>
            <a:r>
              <a:rPr lang="en-US" sz="1200" dirty="0">
                <a:latin typeface="Open Sans Light"/>
                <a:ea typeface="Open Sans Light"/>
                <a:cs typeface="Open Sans Light"/>
              </a:rPr>
              <a:t>CMOS CDR and clocking (Svensson · Chalmers)</a:t>
            </a:r>
          </a:p>
          <a:p>
            <a:r>
              <a:rPr lang="en-US" sz="1200" b="1" dirty="0">
                <a:latin typeface="Open Sans Light"/>
                <a:ea typeface="Open Sans Light"/>
                <a:cs typeface="Open Sans Light"/>
              </a:rPr>
              <a:t>T3 </a:t>
            </a:r>
            <a:r>
              <a:rPr lang="en-US" sz="1200" dirty="0">
                <a:latin typeface="Open Sans Light"/>
                <a:ea typeface="Open Sans Light"/>
                <a:cs typeface="Open Sans Light"/>
              </a:rPr>
              <a:t>Reconfigurable RF-DAC (Walling · VT)</a:t>
            </a:r>
          </a:p>
          <a:p>
            <a:r>
              <a:rPr lang="en-US" sz="1200" b="1" dirty="0">
                <a:latin typeface="Open Sans Light"/>
                <a:ea typeface="Open Sans Light"/>
                <a:cs typeface="Open Sans Light"/>
              </a:rPr>
              <a:t>T4 </a:t>
            </a:r>
            <a:r>
              <a:rPr lang="en-US" sz="1200" dirty="0">
                <a:latin typeface="Open Sans Light"/>
                <a:ea typeface="Open Sans Light"/>
                <a:cs typeface="Open Sans Light"/>
              </a:rPr>
              <a:t>Wideband GaN front-end (Fager · Chalmers)</a:t>
            </a:r>
          </a:p>
          <a:p>
            <a:r>
              <a:rPr lang="en-US" sz="1200" dirty="0">
                <a:latin typeface="Open Sans Light"/>
                <a:ea typeface="Open Sans Light"/>
                <a:cs typeface="Open Sans Light"/>
              </a:rPr>
              <a:t>Silicon in Y1–Y2; dMIMO testbed demos in Y3.</a:t>
            </a:r>
          </a:p>
        </p:txBody>
      </p:sp>
      <p:sp>
        <p:nvSpPr>
          <p:cNvPr id="4" name="TextBox 3">
            <a:extLst>
              <a:ext uri="{FF2B5EF4-FFF2-40B4-BE49-F238E27FC236}">
                <a16:creationId xmlns:a16="http://schemas.microsoft.com/office/drawing/2014/main" id="{F9CA3E19-C2D6-1100-1DF5-F6BBCFC8F0C6}"/>
              </a:ext>
            </a:extLst>
          </p:cNvPr>
          <p:cNvSpPr txBox="1">
            <a:spLocks noGrp="1" noRot="1" noMove="1" noResize="1" noEditPoints="1" noAdjustHandles="1" noChangeArrowheads="1" noChangeShapeType="1"/>
          </p:cNvSpPr>
          <p:nvPr/>
        </p:nvSpPr>
        <p:spPr>
          <a:xfrm>
            <a:off x="480291" y="150574"/>
            <a:ext cx="11231418" cy="707886"/>
          </a:xfrm>
          <a:prstGeom prst="rect">
            <a:avLst/>
          </a:prstGeom>
          <a:noFill/>
        </p:spPr>
        <p:txBody>
          <a:bodyPr wrap="square" rtlCol="0">
            <a:spAutoFit/>
          </a:bodyPr>
          <a:lstStyle/>
          <a:p>
            <a:r>
              <a:rPr lang="en-US" sz="2000" b="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Track 1: </a:t>
            </a:r>
            <a:r>
              <a:rPr lang="en-US" sz="200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High Efficiency Radio Over fiber (HERO) for 6G Networks and Beyond</a:t>
            </a:r>
          </a:p>
          <a:p>
            <a:endParaRPr lang="en-US" sz="200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9" name="TextBox 18">
            <a:extLst>
              <a:ext uri="{FF2B5EF4-FFF2-40B4-BE49-F238E27FC236}">
                <a16:creationId xmlns:a16="http://schemas.microsoft.com/office/drawing/2014/main" id="{84C2F518-B263-73D3-469A-0EEFDA4A1070}"/>
              </a:ext>
            </a:extLst>
          </p:cNvPr>
          <p:cNvSpPr txBox="1">
            <a:spLocks noGrp="1" noRot="1" noMove="1" noResize="1" noEditPoints="1" noAdjustHandles="1" noChangeArrowheads="1" noChangeShapeType="1"/>
          </p:cNvSpPr>
          <p:nvPr/>
        </p:nvSpPr>
        <p:spPr>
          <a:xfrm>
            <a:off x="5101209" y="2509444"/>
            <a:ext cx="1948815" cy="307777"/>
          </a:xfrm>
          <a:prstGeom prst="rect">
            <a:avLst/>
          </a:prstGeom>
          <a:noFill/>
        </p:spPr>
        <p:txBody>
          <a:bodyPr wrap="square" rtlCol="0">
            <a:spAutoFit/>
          </a:bodyPr>
          <a:lstStyle/>
          <a:p>
            <a:r>
              <a:rPr lang="en-US" sz="14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Project Contributions</a:t>
            </a:r>
          </a:p>
        </p:txBody>
      </p:sp>
      <p:sp>
        <p:nvSpPr>
          <p:cNvPr id="22" name="TextBox 21">
            <a:extLst>
              <a:ext uri="{FF2B5EF4-FFF2-40B4-BE49-F238E27FC236}">
                <a16:creationId xmlns:a16="http://schemas.microsoft.com/office/drawing/2014/main" id="{C6901C39-C64C-D511-2813-EF32EC63EBD0}"/>
              </a:ext>
            </a:extLst>
          </p:cNvPr>
          <p:cNvSpPr txBox="1">
            <a:spLocks noGrp="1" noRot="1" noMove="1" noResize="1" noEditPoints="1" noAdjustHandles="1" noChangeArrowheads="1" noChangeShapeType="1"/>
          </p:cNvSpPr>
          <p:nvPr/>
        </p:nvSpPr>
        <p:spPr>
          <a:xfrm>
            <a:off x="5101208" y="4040780"/>
            <a:ext cx="1948815" cy="307777"/>
          </a:xfrm>
          <a:prstGeom prst="rect">
            <a:avLst/>
          </a:prstGeom>
          <a:noFill/>
        </p:spPr>
        <p:txBody>
          <a:bodyPr wrap="square" rtlCol="0">
            <a:spAutoFit/>
          </a:bodyPr>
          <a:lstStyle/>
          <a:p>
            <a:r>
              <a:rPr lang="en-US" sz="14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Your Approach</a:t>
            </a:r>
          </a:p>
        </p:txBody>
      </p:sp>
      <p:sp>
        <p:nvSpPr>
          <p:cNvPr id="23" name="Rectangle 22">
            <a:extLst>
              <a:ext uri="{FF2B5EF4-FFF2-40B4-BE49-F238E27FC236}">
                <a16:creationId xmlns:a16="http://schemas.microsoft.com/office/drawing/2014/main" id="{D2AAED98-4F59-6E02-5840-E4B38140C7EA}"/>
              </a:ext>
            </a:extLst>
          </p:cNvPr>
          <p:cNvSpPr/>
          <p:nvPr/>
        </p:nvSpPr>
        <p:spPr>
          <a:xfrm>
            <a:off x="9710928" y="4000500"/>
            <a:ext cx="2188813" cy="1843088"/>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B97CE3E-2007-C770-0976-099BF05F33A1}"/>
              </a:ext>
            </a:extLst>
          </p:cNvPr>
          <p:cNvSpPr txBox="1"/>
          <p:nvPr/>
        </p:nvSpPr>
        <p:spPr>
          <a:xfrm>
            <a:off x="9722124" y="4093506"/>
            <a:ext cx="2177617" cy="738664"/>
          </a:xfrm>
          <a:prstGeom prst="rect">
            <a:avLst/>
          </a:prstGeom>
          <a:noFill/>
        </p:spPr>
        <p:txBody>
          <a:bodyPr wrap="square" rtlCol="0">
            <a:spAutoFit/>
          </a:bodyPr>
          <a:lstStyle/>
          <a:p>
            <a:r>
              <a:rPr lang="en-US" sz="14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Lead: </a:t>
            </a:r>
            <a:r>
              <a:rPr lang="en-US"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Virginia Tech</a:t>
            </a:r>
          </a:p>
          <a:p>
            <a:r>
              <a:rPr lang="en-US" sz="14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Collaborative: </a:t>
            </a:r>
            <a:r>
              <a:rPr lang="en-US"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Chalmers University of Technology</a:t>
            </a:r>
          </a:p>
        </p:txBody>
      </p:sp>
      <p:sp>
        <p:nvSpPr>
          <p:cNvPr id="26" name="TextBox 25">
            <a:extLst>
              <a:ext uri="{FF2B5EF4-FFF2-40B4-BE49-F238E27FC236}">
                <a16:creationId xmlns:a16="http://schemas.microsoft.com/office/drawing/2014/main" id="{F693AD81-9627-442B-6F21-FB9DCCFCEDE4}"/>
              </a:ext>
            </a:extLst>
          </p:cNvPr>
          <p:cNvSpPr txBox="1">
            <a:spLocks noGrp="1" noRot="1" noMove="1" noResize="1" noEditPoints="1" noAdjustHandles="1" noChangeArrowheads="1" noChangeShapeType="1"/>
          </p:cNvSpPr>
          <p:nvPr/>
        </p:nvSpPr>
        <p:spPr>
          <a:xfrm>
            <a:off x="5110701" y="2791493"/>
            <a:ext cx="2972595" cy="1015663"/>
          </a:xfrm>
          <a:prstGeom prst="rect">
            <a:avLst/>
          </a:prstGeom>
          <a:noFill/>
        </p:spPr>
        <p:txBody>
          <a:bodyPr wrap="square" rtlCol="0">
            <a:spAutoFit/>
          </a:bodyPr>
          <a:lstStyle/>
          <a:p>
            <a:pPr marL="171450" indent="-171450">
              <a:spcAft>
                <a:spcPts val="200"/>
              </a:spcAft>
              <a:buFont typeface="Arial"/>
              <a:buChar char="•"/>
            </a:pPr>
            <a:r>
              <a:rPr lang="en-US" sz="1200" dirty="0">
                <a:latin typeface="Open Sans Light" panose="020B0306030504020204" pitchFamily="34" charset="0"/>
                <a:ea typeface="Open Sans Light" panose="020B0306030504020204" pitchFamily="34" charset="0"/>
                <a:cs typeface="Open Sans Light" panose="020B0306030504020204" pitchFamily="34" charset="0"/>
              </a:rPr>
              <a:t>Low-jitter CDR clocking the RF-DAC from fiber</a:t>
            </a:r>
          </a:p>
          <a:p>
            <a:pPr marL="171450" indent="-171450">
              <a:spcAft>
                <a:spcPts val="200"/>
              </a:spcAft>
              <a:buFont typeface="Arial"/>
              <a:buChar char="•"/>
            </a:pPr>
            <a:r>
              <a:rPr lang="en-US" sz="1200" dirty="0">
                <a:latin typeface="Open Sans Light" panose="020B0306030504020204" pitchFamily="34" charset="0"/>
                <a:ea typeface="Open Sans Light" panose="020B0306030504020204" pitchFamily="34" charset="0"/>
                <a:cs typeface="Open Sans Light" panose="020B0306030504020204" pitchFamily="34" charset="0"/>
              </a:rPr>
              <a:t>7–24 GHz reconfigurable RF-DAC</a:t>
            </a:r>
          </a:p>
          <a:p>
            <a:pPr marL="171450" indent="-171450">
              <a:spcAft>
                <a:spcPts val="200"/>
              </a:spcAft>
              <a:buFont typeface="Arial"/>
              <a:buChar char="•"/>
            </a:pPr>
            <a:r>
              <a:rPr lang="en-US" sz="1200" dirty="0">
                <a:latin typeface="Open Sans Light" panose="020B0306030504020204" pitchFamily="34" charset="0"/>
                <a:ea typeface="Open Sans Light" panose="020B0306030504020204" pitchFamily="34" charset="0"/>
                <a:cs typeface="Open Sans Light" panose="020B0306030504020204" pitchFamily="34" charset="0"/>
              </a:rPr>
              <a:t>AI-synthesized GaN MMIC PAs</a:t>
            </a:r>
          </a:p>
          <a:p>
            <a:pPr marL="171450" indent="-171450">
              <a:spcAft>
                <a:spcPts val="200"/>
              </a:spcAft>
              <a:buFont typeface="Arial"/>
              <a:buChar char="•"/>
            </a:pPr>
            <a:r>
              <a:rPr lang="en-US" sz="1200" dirty="0">
                <a:latin typeface="Open Sans Light" panose="020B0306030504020204" pitchFamily="34" charset="0"/>
                <a:ea typeface="Open Sans Light" panose="020B0306030504020204" pitchFamily="34" charset="0"/>
                <a:cs typeface="Open Sans Light" panose="020B0306030504020204" pitchFamily="34" charset="0"/>
              </a:rPr>
              <a:t>Real-time neuromorphic calibration</a:t>
            </a:r>
          </a:p>
        </p:txBody>
      </p:sp>
      <p:sp>
        <p:nvSpPr>
          <p:cNvPr id="28" name="TextBox 27">
            <a:extLst>
              <a:ext uri="{FF2B5EF4-FFF2-40B4-BE49-F238E27FC236}">
                <a16:creationId xmlns:a16="http://schemas.microsoft.com/office/drawing/2014/main" id="{64040844-5133-9E08-3849-DF78A3310AFE}"/>
              </a:ext>
            </a:extLst>
          </p:cNvPr>
          <p:cNvSpPr txBox="1">
            <a:spLocks/>
          </p:cNvSpPr>
          <p:nvPr/>
        </p:nvSpPr>
        <p:spPr>
          <a:xfrm>
            <a:off x="4519009" y="6331120"/>
            <a:ext cx="7446263" cy="276999"/>
          </a:xfrm>
          <a:prstGeom prst="rect">
            <a:avLst/>
          </a:prstGeom>
          <a:noFill/>
        </p:spPr>
        <p:txBody>
          <a:bodyPr wrap="square" rtlCol="0">
            <a:spAutoFit/>
          </a:bodyPr>
          <a:lstStyle/>
          <a:p>
            <a:r>
              <a:rPr lang="en-US" sz="12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Project website: https://github.com/noyades/NSF-VINES-HERO</a:t>
            </a:r>
          </a:p>
        </p:txBody>
      </p:sp>
      <p:pic>
        <p:nvPicPr>
          <p:cNvPr id="29" name="HERO block diagram" descr="HERO teaming and high-level block diagram: RFSoC FPGA, optical link, HERO ASIC with CDR and multiband RF-DAC, and GaN front-end module"/>
          <p:cNvPicPr>
            <a:picLocks noChangeAspect="1"/>
          </p:cNvPicPr>
          <p:nvPr/>
        </p:nvPicPr>
        <p:blipFill>
          <a:blip r:embed="rId3"/>
          <a:stretch>
            <a:fillRect/>
          </a:stretch>
        </p:blipFill>
        <p:spPr>
          <a:xfrm>
            <a:off x="7952450" y="1530210"/>
            <a:ext cx="4153629" cy="1741063"/>
          </a:xfrm>
          <a:prstGeom prst="rect">
            <a:avLst/>
          </a:prstGeom>
        </p:spPr>
      </p:pic>
      <p:pic>
        <p:nvPicPr>
          <p:cNvPr id="8" name="Picture 7" descr="University Trademarks | Virginia Tech Brand Center ...">
            <a:extLst>
              <a:ext uri="{FF2B5EF4-FFF2-40B4-BE49-F238E27FC236}">
                <a16:creationId xmlns:a16="http://schemas.microsoft.com/office/drawing/2014/main" id="{9EB2940A-E553-BC8E-F8EE-92BEEC2B88AB}"/>
              </a:ext>
            </a:extLst>
          </p:cNvPr>
          <p:cNvPicPr>
            <a:picLocks noChangeAspect="1"/>
          </p:cNvPicPr>
          <p:nvPr/>
        </p:nvPicPr>
        <p:blipFill>
          <a:blip r:embed="rId4"/>
          <a:stretch>
            <a:fillRect/>
          </a:stretch>
        </p:blipFill>
        <p:spPr>
          <a:xfrm>
            <a:off x="9770892" y="4931099"/>
            <a:ext cx="1181912" cy="722822"/>
          </a:xfrm>
          <a:prstGeom prst="rect">
            <a:avLst/>
          </a:prstGeom>
        </p:spPr>
      </p:pic>
      <p:pic>
        <p:nvPicPr>
          <p:cNvPr id="2" name="Picture 1" descr="Chalmers University of Technology - Wikipedia">
            <a:extLst>
              <a:ext uri="{FF2B5EF4-FFF2-40B4-BE49-F238E27FC236}">
                <a16:creationId xmlns:a16="http://schemas.microsoft.com/office/drawing/2014/main" id="{91FEDAE1-9ADE-CAE8-0C0C-F17DA706934C}"/>
              </a:ext>
            </a:extLst>
          </p:cNvPr>
          <p:cNvPicPr>
            <a:picLocks noChangeAspect="1"/>
          </p:cNvPicPr>
          <p:nvPr/>
        </p:nvPicPr>
        <p:blipFill>
          <a:blip r:embed="rId5"/>
          <a:stretch>
            <a:fillRect/>
          </a:stretch>
        </p:blipFill>
        <p:spPr>
          <a:xfrm>
            <a:off x="10832852" y="4860976"/>
            <a:ext cx="979441" cy="917451"/>
          </a:xfrm>
          <a:prstGeom prst="rect">
            <a:avLst/>
          </a:prstGeom>
        </p:spPr>
      </p:pic>
    </p:spTree>
    <p:extLst>
      <p:ext uri="{BB962C8B-B14F-4D97-AF65-F5344CB8AC3E}">
        <p14:creationId xmlns:p14="http://schemas.microsoft.com/office/powerpoint/2010/main" val="3170180787"/>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4BB48692031E54D861B5F0F97459B6C" ma:contentTypeVersion="9" ma:contentTypeDescription="Create a new document." ma:contentTypeScope="" ma:versionID="84818e06e871d1aaba9db2fa990acb01">
  <xsd:schema xmlns:xsd="http://www.w3.org/2001/XMLSchema" xmlns:xs="http://www.w3.org/2001/XMLSchema" xmlns:p="http://schemas.microsoft.com/office/2006/metadata/properties" xmlns:ns2="f32ea37b-5298-4fb5-9955-0c2992a7315c" xmlns:ns3="3189062c-3b3e-447a-89cd-2f6631155c9f" targetNamespace="http://schemas.microsoft.com/office/2006/metadata/properties" ma:root="true" ma:fieldsID="52dfa0e7ee463213ebdad5afbebb480e" ns2:_="" ns3:_="">
    <xsd:import namespace="f32ea37b-5298-4fb5-9955-0c2992a7315c"/>
    <xsd:import namespace="3189062c-3b3e-447a-89cd-2f6631155c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2ea37b-5298-4fb5-9955-0c2992a731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39a973e-5afa-425f-87ff-3573cfd95363"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89062c-3b3e-447a-89cd-2f6631155c9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4cfc27a-fbe9-4518-82a8-7a75607e4c1b}" ma:internalName="TaxCatchAll" ma:showField="CatchAllData" ma:web="3189062c-3b3e-447a-89cd-2f6631155c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3189062c-3b3e-447a-89cd-2f6631155c9f" xsi:nil="true"/>
    <lcf76f155ced4ddcb4097134ff3c332f xmlns="f32ea37b-5298-4fb5-9955-0c2992a7315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7CC6074-2845-4BB2-9496-0B09B70BD537}">
  <ds:schemaRefs>
    <ds:schemaRef ds:uri="http://schemas.microsoft.com/sharepoint/v3/contenttype/forms"/>
  </ds:schemaRefs>
</ds:datastoreItem>
</file>

<file path=customXml/itemProps2.xml><?xml version="1.0" encoding="utf-8"?>
<ds:datastoreItem xmlns:ds="http://schemas.openxmlformats.org/officeDocument/2006/customXml" ds:itemID="{EB9CD9AF-11B4-4206-A4E2-216C43F76082}">
  <ds:schemaRefs>
    <ds:schemaRef ds:uri="3189062c-3b3e-447a-89cd-2f6631155c9f"/>
    <ds:schemaRef ds:uri="f32ea37b-5298-4fb5-9955-0c2992a731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D468239-573D-4DDC-8226-3B8DDDC4247F}">
  <ds:schemaRefs>
    <ds:schemaRef ds:uri="http://schemas.microsoft.com/office/infopath/2007/PartnerControls"/>
    <ds:schemaRef ds:uri="http://schemas.microsoft.com/office/2006/documentManagement/types"/>
    <ds:schemaRef ds:uri="3189062c-3b3e-447a-89cd-2f6631155c9f"/>
    <ds:schemaRef ds:uri="http://schemas.microsoft.com/office/2006/metadata/properties"/>
    <ds:schemaRef ds:uri="http://www.w3.org/XML/1998/namespace"/>
    <ds:schemaRef ds:uri="http://schemas.openxmlformats.org/package/2006/metadata/core-properties"/>
    <ds:schemaRef ds:uri="http://purl.org/dc/dcmitype/"/>
    <ds:schemaRef ds:uri="http://purl.org/dc/terms/"/>
    <ds:schemaRef ds:uri="f32ea37b-5298-4fb5-9955-0c2992a7315c"/>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24</TotalTime>
  <Words>278</Words>
  <Application>Microsoft Office PowerPoint</Application>
  <PresentationFormat>Widescreen</PresentationFormat>
  <Paragraphs>19</Paragraphs>
  <Slides>1</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vt:i4>
      </vt:variant>
    </vt:vector>
  </HeadingPairs>
  <TitlesOfParts>
    <vt:vector size="6" baseType="lpstr">
      <vt:lpstr>Aptos</vt:lpstr>
      <vt:lpstr>Arial</vt:lpstr>
      <vt:lpstr>Open Sans Light</vt:lpstr>
      <vt:lpstr>Office Theme</vt:lpstr>
      <vt:lpstr>1_Office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Paige Walker</dc:creator>
  <cp:lastModifiedBy>Walling, Jeffrey</cp:lastModifiedBy>
  <cp:revision>4</cp:revision>
  <dcterms:created xsi:type="dcterms:W3CDTF">2026-09-16T19:22:55Z</dcterms:created>
  <dcterms:modified xsi:type="dcterms:W3CDTF">2026-10-16T20:09:35Z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0x01010034BB48692031E54D861B5F0F97459B6C</vt:lpwstr>
  </property>
  <property fmtid="{D5CDD505-2E9C-101B-9397-08002B2CF9AE}" pid="3" name="MediaServiceImageTags">
    <vt:lpwstr/>
  </property>
</Properties>
</file>